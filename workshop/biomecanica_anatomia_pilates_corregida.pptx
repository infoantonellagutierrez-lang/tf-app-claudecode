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advTm="10000">
  <p:cSld>
    <p:bg>
      <p:bgPr>
        <a:solidFill>
          <a:srgbClr val="FDF0E0"/>
        </a:solidFill>
        <a:effectLst/>
      </p:bgPr>
    </p:bg>
    <p:spTree>
      <p:nvGrpSpPr>
        <p:cNvPr id="1" name=""/>
        <p:cNvGrpSpPr/>
        <p:nvPr/>
      </p:nvGrpSpPr>
      <p:grpSpPr/>
      <p:sp>
        <p:nvSpPr>
          <p:cNvPr id="2" name="Rectangle 1"/>
          <p:cNvSpPr/>
          <p:nvPr/>
        </p:nvSpPr>
        <p:spPr>
          <a:xfrm>
            <a:off x="0" y="0"/>
            <a:ext cx="12191695" cy="13716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486400"/>
            <a:ext cx="12191695" cy="13716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71600"/>
            <a:ext cx="274320" cy="411480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
            <a:ext cx="10058400" cy="914400"/>
          </a:xfrm>
          <a:prstGeom prst="rect">
            <a:avLst/>
          </a:prstGeom>
          <a:noFill/>
        </p:spPr>
        <p:txBody>
          <a:bodyPr wrap="square" anchor="t"/>
          <a:lstStyle/>
          <a:p>
            <a:pPr algn="ctr"/>
            <a:r>
              <a:rPr sz="3600" b="1" i="0">
                <a:solidFill>
                  <a:srgbClr val="FFFFFF"/>
                </a:solidFill>
                <a:latin typeface="Calibri"/>
              </a:rPr>
              <a:t>BIOMECÁNICA Y ANATOMÍA EN EL PILATES</a:t>
            </a:r>
          </a:p>
        </p:txBody>
      </p:sp>
      <p:sp>
        <p:nvSpPr>
          <p:cNvPr id="6" name="TextBox 5"/>
          <p:cNvSpPr txBox="1"/>
          <p:nvPr/>
        </p:nvSpPr>
        <p:spPr>
          <a:xfrm>
            <a:off x="1828800" y="2286000"/>
            <a:ext cx="8229600" cy="731520"/>
          </a:xfrm>
          <a:prstGeom prst="rect">
            <a:avLst/>
          </a:prstGeom>
          <a:noFill/>
        </p:spPr>
        <p:txBody>
          <a:bodyPr wrap="square" anchor="t"/>
          <a:lstStyle/>
          <a:p>
            <a:pPr algn="ctr"/>
            <a:r>
              <a:rPr sz="2800" b="1" i="0">
                <a:solidFill>
                  <a:srgbClr val="8B1A1A"/>
                </a:solidFill>
                <a:latin typeface="Calibri"/>
              </a:rPr>
              <a:t>Taller de Formación Profesional</a:t>
            </a:r>
          </a:p>
        </p:txBody>
      </p:sp>
      <p:sp>
        <p:nvSpPr>
          <p:cNvPr id="7" name="TextBox 6"/>
          <p:cNvSpPr txBox="1"/>
          <p:nvPr/>
        </p:nvSpPr>
        <p:spPr>
          <a:xfrm>
            <a:off x="1828800" y="3200400"/>
            <a:ext cx="8229600" cy="548640"/>
          </a:xfrm>
          <a:prstGeom prst="rect">
            <a:avLst/>
          </a:prstGeom>
          <a:noFill/>
        </p:spPr>
        <p:txBody>
          <a:bodyPr wrap="square" anchor="t"/>
          <a:lstStyle/>
          <a:p>
            <a:pPr algn="ctr"/>
            <a:r>
              <a:rPr sz="2200" b="0" i="0">
                <a:solidFill>
                  <a:srgbClr val="000000"/>
                </a:solidFill>
                <a:latin typeface="Calibri"/>
              </a:rPr>
              <a:t>Instructora: Lic. Antonella Gutiérrez</a:t>
            </a:r>
          </a:p>
        </p:txBody>
      </p:sp>
      <p:sp>
        <p:nvSpPr>
          <p:cNvPr id="8" name="TextBox 7"/>
          <p:cNvSpPr txBox="1"/>
          <p:nvPr/>
        </p:nvSpPr>
        <p:spPr>
          <a:xfrm>
            <a:off x="1828800" y="3840480"/>
            <a:ext cx="8229600" cy="548640"/>
          </a:xfrm>
          <a:prstGeom prst="rect">
            <a:avLst/>
          </a:prstGeom>
          <a:noFill/>
        </p:spPr>
        <p:txBody>
          <a:bodyPr wrap="square" anchor="t"/>
          <a:lstStyle/>
          <a:p>
            <a:pPr algn="ctr"/>
            <a:r>
              <a:rPr sz="2000" b="1" i="0">
                <a:solidFill>
                  <a:srgbClr val="E87A2E"/>
                </a:solidFill>
                <a:latin typeface="Calibri"/>
              </a:rPr>
              <a:t>AntoBioMove | @anto_biomove</a:t>
            </a:r>
          </a:p>
        </p:txBody>
      </p:sp>
      <p:sp>
        <p:nvSpPr>
          <p:cNvPr id="9" name="TextBox 8"/>
          <p:cNvSpPr txBox="1"/>
          <p:nvPr/>
        </p:nvSpPr>
        <p:spPr>
          <a:xfrm>
            <a:off x="1828800" y="5669280"/>
            <a:ext cx="8229600" cy="731520"/>
          </a:xfrm>
          <a:prstGeom prst="rect">
            <a:avLst/>
          </a:prstGeom>
          <a:noFill/>
        </p:spPr>
        <p:txBody>
          <a:bodyPr wrap="square" anchor="t"/>
          <a:lstStyle/>
          <a:p>
            <a:pPr algn="ctr"/>
            <a:r>
              <a:rPr sz="1600" b="0" i="0">
                <a:solidFill>
                  <a:srgbClr val="FFFFFF"/>
                </a:solidFill>
                <a:latin typeface="Calibri"/>
              </a:rPr>
              <a:t>WhatsApp: +58 412-558-7131 | Instagram: @anto_biomove</a:t>
            </a:r>
          </a:p>
        </p:txBody>
      </p:sp>
    </p:spTree>
  </p:cSld>
  <p:clrMapOvr>
    <a:masterClrMapping/>
  </p:clrMapOvr>
  <p:transition advTm="10000" spd="med"/>
</p:sld>
</file>

<file path=ppt/slides/slide2.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¿QUÉ ES PILATES?</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10058400" cy="4114800"/>
          </a:xfrm>
          <a:prstGeom prst="rect">
            <a:avLst/>
          </a:prstGeom>
          <a:noFill/>
        </p:spPr>
        <p:txBody>
          <a:bodyPr wrap="square">
            <a:spAutoFit/>
          </a:bodyPr>
          <a:lstStyle/>
          <a:p>
            <a:pPr algn="l">
              <a:spcAft>
                <a:spcPts val="400"/>
              </a:spcAft>
            </a:pPr>
            <a:r>
              <a:rPr sz="2600" b="1">
                <a:solidFill>
                  <a:srgbClr val="8B1A1A"/>
                </a:solidFill>
                <a:latin typeface="Calibri"/>
              </a:rPr>
              <a:t>Joseph Hubertus Pilates (1883 – 1967)</a:t>
            </a:r>
          </a:p>
          <a:p>
            <a:pPr algn="l">
              <a:spcAft>
                <a:spcPts val="400"/>
              </a:spcAft>
            </a:pPr>
            <a:r>
              <a:rPr sz="2000" b="0">
                <a:solidFill>
                  <a:srgbClr val="000000"/>
                </a:solidFill>
                <a:latin typeface="Calibri"/>
              </a:rPr>
              <a:t/>
            </a:r>
          </a:p>
          <a:p>
            <a:pPr algn="l">
              <a:spcAft>
                <a:spcPts val="400"/>
              </a:spcAft>
            </a:pPr>
            <a:r>
              <a:rPr sz="2200" b="0" i="1">
                <a:solidFill>
                  <a:srgbClr val="000000"/>
                </a:solidFill>
                <a:latin typeface="Calibri"/>
              </a:rPr>
              <a:t>"Contrología" es la coordinación completa de cuerpo, mente y espíritu.</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El Método Pilates es un sistema de entrenamiento físico y mental creado a principios del siglo XX por Joseph Hubertus Pilates.</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Combina disciplinas como la gimnasia, la traumatología y el yoga, uniendo el dinamismo y la fuerza muscular con el control mental, la respiración y la relajación.</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Se centra en el desarrollo de los músculos internos para mantener el equilibrio corporal, dar estabilidad y firmeza a la columna vertebral.</a:t>
            </a:r>
          </a:p>
        </p:txBody>
      </p:sp>
    </p:spTree>
  </p:cSld>
  <p:clrMapOvr>
    <a:masterClrMapping/>
  </p:clrMapOvr>
  <p:transition advTm="10000" spd="med"/>
</p:sld>
</file>

<file path=ppt/slides/slide3.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BENEFICIOS DEL PILATES</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011680"/>
            <a:ext cx="109728" cy="45720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011680"/>
            <a:ext cx="10058400" cy="640080"/>
          </a:xfrm>
          <a:prstGeom prst="rect">
            <a:avLst/>
          </a:prstGeom>
          <a:noFill/>
        </p:spPr>
        <p:txBody>
          <a:bodyPr wrap="square" anchor="t"/>
          <a:lstStyle/>
          <a:p>
            <a:pPr algn="l"/>
            <a:r>
              <a:rPr sz="1900" b="0" i="0">
                <a:solidFill>
                  <a:srgbClr val="000000"/>
                </a:solidFill>
                <a:latin typeface="Calibri"/>
              </a:rPr>
              <a:t>Aumenta la flexibilidad, la agilidad, el sentido de equilibrio y mejora la coordinación de movimientos</a:t>
            </a:r>
          </a:p>
        </p:txBody>
      </p:sp>
      <p:sp>
        <p:nvSpPr>
          <p:cNvPr id="7" name="Rectangle 6"/>
          <p:cNvSpPr/>
          <p:nvPr/>
        </p:nvSpPr>
        <p:spPr>
          <a:xfrm>
            <a:off x="731520" y="2743200"/>
            <a:ext cx="109728" cy="45720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743200"/>
            <a:ext cx="10058400" cy="640080"/>
          </a:xfrm>
          <a:prstGeom prst="rect">
            <a:avLst/>
          </a:prstGeom>
          <a:noFill/>
        </p:spPr>
        <p:txBody>
          <a:bodyPr wrap="square" anchor="t"/>
          <a:lstStyle/>
          <a:p>
            <a:pPr algn="l"/>
            <a:r>
              <a:rPr sz="1900" b="0" i="0">
                <a:solidFill>
                  <a:srgbClr val="000000"/>
                </a:solidFill>
                <a:latin typeface="Calibri"/>
              </a:rPr>
              <a:t>Alineación postural y corrección de hábitos posturales perjudiciales</a:t>
            </a:r>
          </a:p>
        </p:txBody>
      </p:sp>
      <p:sp>
        <p:nvSpPr>
          <p:cNvPr id="9" name="Rectangle 8"/>
          <p:cNvSpPr/>
          <p:nvPr/>
        </p:nvSpPr>
        <p:spPr>
          <a:xfrm>
            <a:off x="731520" y="3474720"/>
            <a:ext cx="109728" cy="45720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474720"/>
            <a:ext cx="10058400" cy="640080"/>
          </a:xfrm>
          <a:prstGeom prst="rect">
            <a:avLst/>
          </a:prstGeom>
          <a:noFill/>
        </p:spPr>
        <p:txBody>
          <a:bodyPr wrap="square" anchor="t"/>
          <a:lstStyle/>
          <a:p>
            <a:pPr algn="l"/>
            <a:r>
              <a:rPr sz="1900" b="0" i="0">
                <a:solidFill>
                  <a:srgbClr val="000000"/>
                </a:solidFill>
                <a:latin typeface="Calibri"/>
              </a:rPr>
              <a:t>Fortalece y tonifica los músculos sin aumentar excesivamente el volumen muscular</a:t>
            </a:r>
          </a:p>
        </p:txBody>
      </p:sp>
      <p:sp>
        <p:nvSpPr>
          <p:cNvPr id="11" name="Rectangle 10"/>
          <p:cNvSpPr/>
          <p:nvPr/>
        </p:nvSpPr>
        <p:spPr>
          <a:xfrm>
            <a:off x="731520" y="4206240"/>
            <a:ext cx="109728" cy="45720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206240"/>
            <a:ext cx="10058400" cy="640080"/>
          </a:xfrm>
          <a:prstGeom prst="rect">
            <a:avLst/>
          </a:prstGeom>
          <a:noFill/>
        </p:spPr>
        <p:txBody>
          <a:bodyPr wrap="square" anchor="t"/>
          <a:lstStyle/>
          <a:p>
            <a:pPr algn="l"/>
            <a:r>
              <a:rPr sz="1900" b="0" i="0">
                <a:solidFill>
                  <a:srgbClr val="000000"/>
                </a:solidFill>
                <a:latin typeface="Calibri"/>
              </a:rPr>
              <a:t>Aporta vitalidad física y mental, mejora la autoestima</a:t>
            </a:r>
          </a:p>
        </p:txBody>
      </p:sp>
      <p:sp>
        <p:nvSpPr>
          <p:cNvPr id="13" name="Rectangle 12"/>
          <p:cNvSpPr/>
          <p:nvPr/>
        </p:nvSpPr>
        <p:spPr>
          <a:xfrm>
            <a:off x="731520" y="4937760"/>
            <a:ext cx="109728" cy="45720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937760"/>
            <a:ext cx="10058400" cy="640080"/>
          </a:xfrm>
          <a:prstGeom prst="rect">
            <a:avLst/>
          </a:prstGeom>
          <a:noFill/>
        </p:spPr>
        <p:txBody>
          <a:bodyPr wrap="square" anchor="t"/>
          <a:lstStyle/>
          <a:p>
            <a:pPr algn="l"/>
            <a:r>
              <a:rPr sz="1900" b="0" i="0">
                <a:solidFill>
                  <a:srgbClr val="000000"/>
                </a:solidFill>
                <a:latin typeface="Calibri"/>
              </a:rPr>
              <a:t>Mejora la conexión cuerpo-mente a través de la concentración y la respiración</a:t>
            </a:r>
          </a:p>
        </p:txBody>
      </p:sp>
      <p:sp>
        <p:nvSpPr>
          <p:cNvPr id="15" name="Rectangle 14"/>
          <p:cNvSpPr/>
          <p:nvPr/>
        </p:nvSpPr>
        <p:spPr>
          <a:xfrm>
            <a:off x="731520" y="5669280"/>
            <a:ext cx="109728" cy="45720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5669280"/>
            <a:ext cx="10058400" cy="640080"/>
          </a:xfrm>
          <a:prstGeom prst="rect">
            <a:avLst/>
          </a:prstGeom>
          <a:noFill/>
        </p:spPr>
        <p:txBody>
          <a:bodyPr wrap="square" anchor="t"/>
          <a:lstStyle/>
          <a:p>
            <a:pPr algn="l"/>
            <a:r>
              <a:rPr sz="1900" b="0" i="0">
                <a:solidFill>
                  <a:srgbClr val="000000"/>
                </a:solidFill>
                <a:latin typeface="Calibri"/>
              </a:rPr>
              <a:t>Prevención y rehabilitación de lesiones musculares y de columna</a:t>
            </a:r>
          </a:p>
        </p:txBody>
      </p:sp>
    </p:spTree>
  </p:cSld>
  <p:clrMapOvr>
    <a:masterClrMapping/>
  </p:clrMapOvr>
  <p:transition advTm="10000" spd="med"/>
</p:sld>
</file>

<file path=ppt/slides/slide4.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HISTORIA DEL PILATES</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10058400" cy="4572000"/>
          </a:xfrm>
          <a:prstGeom prst="rect">
            <a:avLst/>
          </a:prstGeom>
          <a:noFill/>
        </p:spPr>
        <p:txBody>
          <a:bodyPr wrap="square">
            <a:spAutoFit/>
          </a:bodyPr>
          <a:lstStyle/>
          <a:p>
            <a:pPr algn="l">
              <a:spcAft>
                <a:spcPts val="400"/>
              </a:spcAft>
            </a:pPr>
            <a:r>
              <a:rPr sz="2600" b="1">
                <a:solidFill>
                  <a:srgbClr val="8B1A1A"/>
                </a:solidFill>
                <a:latin typeface="Calibri"/>
              </a:rPr>
              <a:t>Joseph Hubertus Pilates</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Nació el 9 de diciembre de 1883, en Düsseldorf, Alemania.</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Fue un niño enfermizo que padeció asma, raquitismo y fiebre reumática.</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Decidió dedicar su vida a superar sus deficiencias físicas. Estudió anatomía, fisiología y diversas disciplinas como yoga, artes marciales, boxeo y gimnasia.</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Durante la Primera Guerra Mundial, desarrolló un programa de ejercicios para rehabilitar a soldados heridos, usando muelles de las camas como resistencia.</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En 1926, emigró a Nueva York donde abrió su primer estudio, ganando popularidad entre bailarines y atletas.</a:t>
            </a:r>
          </a:p>
          <a:p>
            <a:pPr algn="l">
              <a:spcAft>
                <a:spcPts val="400"/>
              </a:spcAft>
            </a:pPr>
            <a:r>
              <a:rPr sz="2000" b="0">
                <a:solidFill>
                  <a:srgbClr val="000000"/>
                </a:solidFill>
                <a:latin typeface="Calibri"/>
              </a:rPr>
              <a:t/>
            </a:r>
          </a:p>
          <a:p>
            <a:pPr algn="l">
              <a:spcAft>
                <a:spcPts val="400"/>
              </a:spcAft>
            </a:pPr>
            <a:r>
              <a:rPr sz="2000" b="0" i="1">
                <a:solidFill>
                  <a:srgbClr val="8B1A1A"/>
                </a:solidFill>
                <a:latin typeface="Calibri"/>
              </a:rPr>
              <a:t>"En 10 sesiones sentirás la diferencia, en 20 la verás y en 30 tendrás un cuerpo nuevo."</a:t>
            </a:r>
          </a:p>
          <a:p>
            <a:pPr algn="l">
              <a:spcAft>
                <a:spcPts val="400"/>
              </a:spcAft>
            </a:pPr>
            <a:r>
              <a:rPr sz="1800" b="0" i="1">
                <a:solidFill>
                  <a:srgbClr val="E87A2E"/>
                </a:solidFill>
                <a:latin typeface="Calibri"/>
              </a:rPr>
              <a:t>— Joseph Pilates</a:t>
            </a:r>
          </a:p>
        </p:txBody>
      </p:sp>
    </p:spTree>
  </p:cSld>
  <p:clrMapOvr>
    <a:masterClrMapping/>
  </p:clrMapOvr>
  <p:transition advTm="10000" spd="med"/>
</p:sld>
</file>

<file path=ppt/slides/slide5.xml><?xml version="1.0" encoding="utf-8"?>
<p:sld xmlns:a="http://schemas.openxmlformats.org/drawingml/2006/main" xmlns:p="http://schemas.openxmlformats.org/presentationml/2006/main" xmlns:r="http://schemas.openxmlformats.org/officeDocument/2006/relationships" p:advTm="10000">
  <p:cSld>
    <p:bg>
      <p:bgPr>
        <a:solidFill>
          <a:srgbClr val="FDF0E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8B1A1A">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371600"/>
          </a:xfrm>
          <a:prstGeom prst="rect">
            <a:avLst/>
          </a:prstGeom>
          <a:noFill/>
        </p:spPr>
        <p:txBody>
          <a:bodyPr wrap="square" anchor="t"/>
          <a:lstStyle/>
          <a:p>
            <a:pPr algn="ctr"/>
            <a:r>
              <a:rPr sz="4800" b="1" i="0">
                <a:solidFill>
                  <a:srgbClr val="8B1A1A"/>
                </a:solidFill>
                <a:latin typeface="Calibri"/>
              </a:rPr>
              <a:t>HABLEMOS DE ANATOMÍA</a:t>
            </a:r>
          </a:p>
        </p:txBody>
      </p:sp>
      <p:sp>
        <p:nvSpPr>
          <p:cNvPr id="4" name="Rectangle 3"/>
          <p:cNvSpPr/>
          <p:nvPr/>
        </p:nvSpPr>
        <p:spPr>
          <a:xfrm>
            <a:off x="3657600" y="3474720"/>
            <a:ext cx="4572000" cy="73152"/>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4114800"/>
            <a:ext cx="8229600" cy="914400"/>
          </a:xfrm>
          <a:prstGeom prst="rect">
            <a:avLst/>
          </a:prstGeom>
          <a:noFill/>
        </p:spPr>
        <p:txBody>
          <a:bodyPr wrap="square" anchor="t"/>
          <a:lstStyle/>
          <a:p>
            <a:pPr algn="ctr"/>
            <a:r>
              <a:rPr sz="2400" b="0" i="1">
                <a:solidFill>
                  <a:srgbClr val="000000"/>
                </a:solidFill>
                <a:latin typeface="Calibri"/>
              </a:rPr>
              <a:t>Conocer nuestro cuerpo para entender el movimiento</a:t>
            </a:r>
          </a:p>
        </p:txBody>
      </p:sp>
    </p:spTree>
  </p:cSld>
  <p:clrMapOvr>
    <a:masterClrMapping/>
  </p:clrMapOvr>
  <p:transition advTm="10000" spd="med"/>
</p:sld>
</file>

<file path=ppt/slides/slide6.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400" b="1" i="0">
                <a:solidFill>
                  <a:srgbClr val="FFFFFF"/>
                </a:solidFill>
                <a:latin typeface="Calibri"/>
              </a:rPr>
              <a:t>¿QUÉ SON LOS HUESOS Y QUÉ HACEN?</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10058400" cy="4572000"/>
          </a:xfrm>
          <a:prstGeom prst="rect">
            <a:avLst/>
          </a:prstGeom>
          <a:noFill/>
        </p:spPr>
        <p:txBody>
          <a:bodyPr wrap="square">
            <a:spAutoFit/>
          </a:bodyPr>
          <a:lstStyle/>
          <a:p>
            <a:pPr algn="l">
              <a:spcAft>
                <a:spcPts val="400"/>
              </a:spcAft>
            </a:pPr>
            <a:r>
              <a:rPr sz="2400" b="1">
                <a:solidFill>
                  <a:srgbClr val="8B1A1A"/>
                </a:solidFill>
                <a:latin typeface="Calibri"/>
              </a:rPr>
              <a:t>Los huesos son tejido vivo</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Los huesos proveen al cuerpo una estructura de apoyo y protección para los órganos internos.</a:t>
            </a:r>
          </a:p>
          <a:p>
            <a:pPr algn="l">
              <a:spcAft>
                <a:spcPts val="400"/>
              </a:spcAft>
            </a:pPr>
            <a:r>
              <a:rPr sz="2000" b="0">
                <a:solidFill>
                  <a:srgbClr val="000000"/>
                </a:solidFill>
                <a:latin typeface="Calibri"/>
              </a:rPr>
              <a:t/>
            </a:r>
          </a:p>
          <a:p>
            <a:pPr algn="l">
              <a:spcAft>
                <a:spcPts val="400"/>
              </a:spcAft>
            </a:pPr>
            <a:r>
              <a:rPr sz="2200" b="1">
                <a:solidFill>
                  <a:srgbClr val="E87A2E"/>
                </a:solidFill>
                <a:latin typeface="Calibri"/>
              </a:rPr>
              <a:t>Funciones principales:</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 Soporte: proporcionan el armazón que sostiene el cuerpo</a:t>
            </a:r>
          </a:p>
          <a:p>
            <a:pPr algn="l">
              <a:spcAft>
                <a:spcPts val="400"/>
              </a:spcAft>
            </a:pPr>
            <a:r>
              <a:rPr sz="2000" b="0">
                <a:solidFill>
                  <a:srgbClr val="000000"/>
                </a:solidFill>
                <a:latin typeface="Calibri"/>
              </a:rPr>
              <a:t>• Protección: protegen los órganos internos vitales</a:t>
            </a:r>
          </a:p>
          <a:p>
            <a:pPr algn="l">
              <a:spcAft>
                <a:spcPts val="400"/>
              </a:spcAft>
            </a:pPr>
            <a:r>
              <a:rPr sz="2000" b="0">
                <a:solidFill>
                  <a:srgbClr val="000000"/>
                </a:solidFill>
                <a:latin typeface="Calibri"/>
              </a:rPr>
              <a:t>• Movimiento: sirven como punto de anclaje para los músculos</a:t>
            </a:r>
          </a:p>
          <a:p>
            <a:pPr algn="l">
              <a:spcAft>
                <a:spcPts val="400"/>
              </a:spcAft>
            </a:pPr>
            <a:r>
              <a:rPr sz="2000" b="0">
                <a:solidFill>
                  <a:srgbClr val="000000"/>
                </a:solidFill>
                <a:latin typeface="Calibri"/>
              </a:rPr>
              <a:t>• Almacenamiento de minerales: almacenan calcio y fósforo</a:t>
            </a:r>
          </a:p>
          <a:p>
            <a:pPr algn="l">
              <a:spcAft>
                <a:spcPts val="400"/>
              </a:spcAft>
            </a:pPr>
            <a:r>
              <a:rPr sz="2000" b="0">
                <a:solidFill>
                  <a:srgbClr val="000000"/>
                </a:solidFill>
                <a:latin typeface="Calibri"/>
              </a:rPr>
              <a:t>• Producción de células sanguíneas: la médula ósea produce glóbulos rojos y blancos</a:t>
            </a:r>
          </a:p>
        </p:txBody>
      </p:sp>
    </p:spTree>
  </p:cSld>
  <p:clrMapOvr>
    <a:masterClrMapping/>
  </p:clrMapOvr>
  <p:transition advTm="10000" spd="med"/>
</p:sld>
</file>

<file path=ppt/slides/slide7.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EL ESQUELETO HUMANO</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5029200" cy="4572000"/>
          </a:xfrm>
          <a:prstGeom prst="rect">
            <a:avLst/>
          </a:prstGeom>
          <a:noFill/>
        </p:spPr>
        <p:txBody>
          <a:bodyPr wrap="square">
            <a:spAutoFit/>
          </a:bodyPr>
          <a:lstStyle/>
          <a:p>
            <a:pPr algn="l">
              <a:spcAft>
                <a:spcPts val="400"/>
              </a:spcAft>
            </a:pPr>
            <a:r>
              <a:rPr sz="2200" b="1">
                <a:solidFill>
                  <a:srgbClr val="8B1A1A"/>
                </a:solidFill>
                <a:latin typeface="Calibri"/>
              </a:rPr>
              <a:t>Principales huesos:</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 Cráneo</a:t>
            </a:r>
          </a:p>
          <a:p>
            <a:pPr algn="l">
              <a:spcAft>
                <a:spcPts val="400"/>
              </a:spcAft>
            </a:pPr>
            <a:r>
              <a:rPr sz="2000" b="0">
                <a:solidFill>
                  <a:srgbClr val="000000"/>
                </a:solidFill>
                <a:latin typeface="Calibri"/>
              </a:rPr>
              <a:t>• Escápula (omóplato)</a:t>
            </a:r>
          </a:p>
          <a:p>
            <a:pPr algn="l">
              <a:spcAft>
                <a:spcPts val="400"/>
              </a:spcAft>
            </a:pPr>
            <a:r>
              <a:rPr sz="2000" b="0">
                <a:solidFill>
                  <a:srgbClr val="000000"/>
                </a:solidFill>
                <a:latin typeface="Calibri"/>
              </a:rPr>
              <a:t>• Húmero</a:t>
            </a:r>
          </a:p>
          <a:p>
            <a:pPr algn="l">
              <a:spcAft>
                <a:spcPts val="400"/>
              </a:spcAft>
            </a:pPr>
            <a:r>
              <a:rPr sz="2000" b="0">
                <a:solidFill>
                  <a:srgbClr val="000000"/>
                </a:solidFill>
                <a:latin typeface="Calibri"/>
              </a:rPr>
              <a:t>• Costillas</a:t>
            </a:r>
          </a:p>
          <a:p>
            <a:pPr algn="l">
              <a:spcAft>
                <a:spcPts val="400"/>
              </a:spcAft>
            </a:pPr>
            <a:r>
              <a:rPr sz="2000" b="0">
                <a:solidFill>
                  <a:srgbClr val="000000"/>
                </a:solidFill>
                <a:latin typeface="Calibri"/>
              </a:rPr>
              <a:t>• Cúbito y Radio</a:t>
            </a:r>
          </a:p>
          <a:p>
            <a:pPr algn="l">
              <a:spcAft>
                <a:spcPts val="400"/>
              </a:spcAft>
            </a:pPr>
            <a:r>
              <a:rPr sz="2000" b="0">
                <a:solidFill>
                  <a:srgbClr val="000000"/>
                </a:solidFill>
                <a:latin typeface="Calibri"/>
              </a:rPr>
              <a:t>• Pelvis</a:t>
            </a:r>
          </a:p>
          <a:p>
            <a:pPr algn="l">
              <a:spcAft>
                <a:spcPts val="400"/>
              </a:spcAft>
            </a:pPr>
            <a:r>
              <a:rPr sz="2000" b="0">
                <a:solidFill>
                  <a:srgbClr val="000000"/>
                </a:solidFill>
                <a:latin typeface="Calibri"/>
              </a:rPr>
              <a:t>• Fémur</a:t>
            </a:r>
          </a:p>
          <a:p>
            <a:pPr algn="l">
              <a:spcAft>
                <a:spcPts val="400"/>
              </a:spcAft>
            </a:pPr>
            <a:r>
              <a:rPr sz="2000" b="0">
                <a:solidFill>
                  <a:srgbClr val="000000"/>
                </a:solidFill>
                <a:latin typeface="Calibri"/>
              </a:rPr>
              <a:t>• Tibia</a:t>
            </a:r>
          </a:p>
          <a:p>
            <a:pPr algn="l">
              <a:spcAft>
                <a:spcPts val="400"/>
              </a:spcAft>
            </a:pPr>
            <a:r>
              <a:rPr sz="2000" b="0">
                <a:solidFill>
                  <a:srgbClr val="000000"/>
                </a:solidFill>
                <a:latin typeface="Calibri"/>
              </a:rPr>
              <a:t>• Peroné</a:t>
            </a:r>
          </a:p>
        </p:txBody>
      </p:sp>
      <p:sp>
        <p:nvSpPr>
          <p:cNvPr id="6" name="TextBox 5"/>
          <p:cNvSpPr txBox="1"/>
          <p:nvPr/>
        </p:nvSpPr>
        <p:spPr>
          <a:xfrm>
            <a:off x="6400800" y="2011680"/>
            <a:ext cx="5029200" cy="4572000"/>
          </a:xfrm>
          <a:prstGeom prst="rect">
            <a:avLst/>
          </a:prstGeom>
          <a:noFill/>
        </p:spPr>
        <p:txBody>
          <a:bodyPr wrap="square">
            <a:spAutoFit/>
          </a:bodyPr>
          <a:lstStyle/>
          <a:p>
            <a:pPr algn="l">
              <a:spcAft>
                <a:spcPts val="400"/>
              </a:spcAft>
            </a:pPr>
            <a:r>
              <a:rPr sz="2200" b="1">
                <a:solidFill>
                  <a:srgbClr val="8B1A1A"/>
                </a:solidFill>
                <a:latin typeface="Calibri"/>
              </a:rPr>
              <a:t>El esqueleto se divide en:</a:t>
            </a:r>
          </a:p>
          <a:p>
            <a:pPr algn="l">
              <a:spcAft>
                <a:spcPts val="400"/>
              </a:spcAft>
            </a:pPr>
            <a:r>
              <a:rPr sz="2000" b="0">
                <a:solidFill>
                  <a:srgbClr val="000000"/>
                </a:solidFill>
                <a:latin typeface="Calibri"/>
              </a:rPr>
              <a:t/>
            </a:r>
          </a:p>
          <a:p>
            <a:pPr algn="l">
              <a:spcAft>
                <a:spcPts val="400"/>
              </a:spcAft>
            </a:pPr>
            <a:r>
              <a:rPr sz="2000" b="1">
                <a:solidFill>
                  <a:srgbClr val="E87A2E"/>
                </a:solidFill>
                <a:latin typeface="Calibri"/>
              </a:rPr>
              <a:t>Esqueleto axial:</a:t>
            </a:r>
          </a:p>
          <a:p>
            <a:pPr algn="l">
              <a:spcAft>
                <a:spcPts val="400"/>
              </a:spcAft>
            </a:pPr>
            <a:r>
              <a:rPr sz="2000" b="0">
                <a:solidFill>
                  <a:srgbClr val="000000"/>
                </a:solidFill>
                <a:latin typeface="Calibri"/>
              </a:rPr>
              <a:t>Cráneo, columna vertebral, costillas y esternón (80 huesos)</a:t>
            </a:r>
          </a:p>
          <a:p>
            <a:pPr algn="l">
              <a:spcAft>
                <a:spcPts val="400"/>
              </a:spcAft>
            </a:pPr>
            <a:r>
              <a:rPr sz="2000" b="0">
                <a:solidFill>
                  <a:srgbClr val="000000"/>
                </a:solidFill>
                <a:latin typeface="Calibri"/>
              </a:rPr>
              <a:t/>
            </a:r>
          </a:p>
          <a:p>
            <a:pPr algn="l">
              <a:spcAft>
                <a:spcPts val="400"/>
              </a:spcAft>
            </a:pPr>
            <a:r>
              <a:rPr sz="2000" b="1">
                <a:solidFill>
                  <a:srgbClr val="E87A2E"/>
                </a:solidFill>
                <a:latin typeface="Calibri"/>
              </a:rPr>
              <a:t>Esqueleto apendicular:</a:t>
            </a:r>
          </a:p>
          <a:p>
            <a:pPr algn="l">
              <a:spcAft>
                <a:spcPts val="400"/>
              </a:spcAft>
            </a:pPr>
            <a:r>
              <a:rPr sz="2000" b="0">
                <a:solidFill>
                  <a:srgbClr val="000000"/>
                </a:solidFill>
                <a:latin typeface="Calibri"/>
              </a:rPr>
              <a:t>Extremidades superiores e inferiores, cinturas escapular y pélvica (126 huesos)</a:t>
            </a:r>
          </a:p>
          <a:p>
            <a:pPr algn="l">
              <a:spcAft>
                <a:spcPts val="400"/>
              </a:spcAft>
            </a:pPr>
            <a:r>
              <a:rPr sz="2000" b="0">
                <a:solidFill>
                  <a:srgbClr val="000000"/>
                </a:solidFill>
                <a:latin typeface="Calibri"/>
              </a:rPr>
              <a:t/>
            </a:r>
          </a:p>
          <a:p>
            <a:pPr algn="l">
              <a:spcAft>
                <a:spcPts val="400"/>
              </a:spcAft>
            </a:pPr>
            <a:r>
              <a:rPr sz="2200" b="1">
                <a:solidFill>
                  <a:srgbClr val="8B1A1A"/>
                </a:solidFill>
                <a:latin typeface="Calibri"/>
              </a:rPr>
              <a:t>Total: 206 huesos en el adulto</a:t>
            </a:r>
          </a:p>
        </p:txBody>
      </p:sp>
    </p:spTree>
  </p:cSld>
  <p:clrMapOvr>
    <a:masterClrMapping/>
  </p:clrMapOvr>
  <p:transition advTm="10000" spd="med"/>
</p:sld>
</file>

<file path=ppt/slides/slide8.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000" b="1" i="0">
                <a:solidFill>
                  <a:srgbClr val="FFFFFF"/>
                </a:solidFill>
                <a:latin typeface="Calibri"/>
              </a:rPr>
              <a:t>¿CUÁNTAS ARTICULACIONES TIENE EL CUERPO HUMANO?</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2011680"/>
            <a:ext cx="8229600" cy="731520"/>
          </a:xfrm>
          <a:prstGeom prst="rect">
            <a:avLst/>
          </a:prstGeom>
          <a:noFill/>
        </p:spPr>
        <p:txBody>
          <a:bodyPr wrap="square" anchor="t"/>
          <a:lstStyle/>
          <a:p>
            <a:pPr algn="ctr"/>
            <a:r>
              <a:rPr sz="2800" b="1" i="0">
                <a:solidFill>
                  <a:srgbClr val="8B1A1A"/>
                </a:solidFill>
                <a:latin typeface="Calibri"/>
              </a:rPr>
              <a:t>El cuerpo humano tiene 360 articulaciones</a:t>
            </a:r>
          </a:p>
        </p:txBody>
      </p:sp>
      <p:sp>
        <p:nvSpPr>
          <p:cNvPr id="6" name="Rectangle 5"/>
          <p:cNvSpPr/>
          <p:nvPr/>
        </p:nvSpPr>
        <p:spPr>
          <a:xfrm>
            <a:off x="2286000" y="3017520"/>
            <a:ext cx="1097280" cy="41148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0" y="3017520"/>
            <a:ext cx="1097280" cy="411480"/>
          </a:xfrm>
          <a:prstGeom prst="rect">
            <a:avLst/>
          </a:prstGeom>
          <a:noFill/>
        </p:spPr>
        <p:txBody>
          <a:bodyPr wrap="square" anchor="t"/>
          <a:lstStyle/>
          <a:p>
            <a:pPr algn="ctr"/>
            <a:r>
              <a:rPr sz="2200" b="1" i="0">
                <a:solidFill>
                  <a:srgbClr val="FFFFFF"/>
                </a:solidFill>
                <a:latin typeface="Calibri"/>
              </a:rPr>
              <a:t>86</a:t>
            </a:r>
          </a:p>
        </p:txBody>
      </p:sp>
      <p:sp>
        <p:nvSpPr>
          <p:cNvPr id="8" name="TextBox 7"/>
          <p:cNvSpPr txBox="1"/>
          <p:nvPr/>
        </p:nvSpPr>
        <p:spPr>
          <a:xfrm>
            <a:off x="3657600" y="3017520"/>
            <a:ext cx="5486400" cy="411480"/>
          </a:xfrm>
          <a:prstGeom prst="rect">
            <a:avLst/>
          </a:prstGeom>
          <a:noFill/>
        </p:spPr>
        <p:txBody>
          <a:bodyPr wrap="square" anchor="t"/>
          <a:lstStyle/>
          <a:p>
            <a:pPr algn="l"/>
            <a:r>
              <a:rPr sz="2000" b="0" i="0">
                <a:solidFill>
                  <a:srgbClr val="000000"/>
                </a:solidFill>
                <a:latin typeface="Calibri"/>
              </a:rPr>
              <a:t>en el cráneo</a:t>
            </a:r>
          </a:p>
        </p:txBody>
      </p:sp>
      <p:sp>
        <p:nvSpPr>
          <p:cNvPr id="9" name="Rectangle 8"/>
          <p:cNvSpPr/>
          <p:nvPr/>
        </p:nvSpPr>
        <p:spPr>
          <a:xfrm>
            <a:off x="2286000" y="3566160"/>
            <a:ext cx="1097280" cy="41148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3566160"/>
            <a:ext cx="1097280" cy="411480"/>
          </a:xfrm>
          <a:prstGeom prst="rect">
            <a:avLst/>
          </a:prstGeom>
          <a:noFill/>
        </p:spPr>
        <p:txBody>
          <a:bodyPr wrap="square" anchor="t"/>
          <a:lstStyle/>
          <a:p>
            <a:pPr algn="ctr"/>
            <a:r>
              <a:rPr sz="2200" b="1" i="0">
                <a:solidFill>
                  <a:srgbClr val="FFFFFF"/>
                </a:solidFill>
                <a:latin typeface="Calibri"/>
              </a:rPr>
              <a:t>6</a:t>
            </a:r>
          </a:p>
        </p:txBody>
      </p:sp>
      <p:sp>
        <p:nvSpPr>
          <p:cNvPr id="11" name="TextBox 10"/>
          <p:cNvSpPr txBox="1"/>
          <p:nvPr/>
        </p:nvSpPr>
        <p:spPr>
          <a:xfrm>
            <a:off x="3657600" y="3566160"/>
            <a:ext cx="5486400" cy="411480"/>
          </a:xfrm>
          <a:prstGeom prst="rect">
            <a:avLst/>
          </a:prstGeom>
          <a:noFill/>
        </p:spPr>
        <p:txBody>
          <a:bodyPr wrap="square" anchor="t"/>
          <a:lstStyle/>
          <a:p>
            <a:pPr algn="l"/>
            <a:r>
              <a:rPr sz="2000" b="0" i="0">
                <a:solidFill>
                  <a:srgbClr val="000000"/>
                </a:solidFill>
                <a:latin typeface="Calibri"/>
              </a:rPr>
              <a:t>en la garganta</a:t>
            </a:r>
          </a:p>
        </p:txBody>
      </p:sp>
      <p:sp>
        <p:nvSpPr>
          <p:cNvPr id="12" name="Rectangle 11"/>
          <p:cNvSpPr/>
          <p:nvPr/>
        </p:nvSpPr>
        <p:spPr>
          <a:xfrm>
            <a:off x="2286000" y="4114800"/>
            <a:ext cx="1097280" cy="41148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0" y="4114800"/>
            <a:ext cx="1097280" cy="411480"/>
          </a:xfrm>
          <a:prstGeom prst="rect">
            <a:avLst/>
          </a:prstGeom>
          <a:noFill/>
        </p:spPr>
        <p:txBody>
          <a:bodyPr wrap="square" anchor="t"/>
          <a:lstStyle/>
          <a:p>
            <a:pPr algn="ctr"/>
            <a:r>
              <a:rPr sz="2200" b="1" i="0">
                <a:solidFill>
                  <a:srgbClr val="FFFFFF"/>
                </a:solidFill>
                <a:latin typeface="Calibri"/>
              </a:rPr>
              <a:t>66</a:t>
            </a:r>
          </a:p>
        </p:txBody>
      </p:sp>
      <p:sp>
        <p:nvSpPr>
          <p:cNvPr id="14" name="TextBox 13"/>
          <p:cNvSpPr txBox="1"/>
          <p:nvPr/>
        </p:nvSpPr>
        <p:spPr>
          <a:xfrm>
            <a:off x="3657600" y="4114800"/>
            <a:ext cx="5486400" cy="411480"/>
          </a:xfrm>
          <a:prstGeom prst="rect">
            <a:avLst/>
          </a:prstGeom>
          <a:noFill/>
        </p:spPr>
        <p:txBody>
          <a:bodyPr wrap="square" anchor="t"/>
          <a:lstStyle/>
          <a:p>
            <a:pPr algn="l"/>
            <a:r>
              <a:rPr sz="2000" b="0" i="0">
                <a:solidFill>
                  <a:srgbClr val="000000"/>
                </a:solidFill>
                <a:latin typeface="Calibri"/>
              </a:rPr>
              <a:t>en el tórax</a:t>
            </a:r>
          </a:p>
        </p:txBody>
      </p:sp>
      <p:sp>
        <p:nvSpPr>
          <p:cNvPr id="15" name="Rectangle 14"/>
          <p:cNvSpPr/>
          <p:nvPr/>
        </p:nvSpPr>
        <p:spPr>
          <a:xfrm>
            <a:off x="2286000" y="4663439"/>
            <a:ext cx="1097280" cy="41148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0" y="4663439"/>
            <a:ext cx="1097280" cy="411480"/>
          </a:xfrm>
          <a:prstGeom prst="rect">
            <a:avLst/>
          </a:prstGeom>
          <a:noFill/>
        </p:spPr>
        <p:txBody>
          <a:bodyPr wrap="square" anchor="t"/>
          <a:lstStyle/>
          <a:p>
            <a:pPr algn="ctr"/>
            <a:r>
              <a:rPr sz="2200" b="1" i="0">
                <a:solidFill>
                  <a:srgbClr val="FFFFFF"/>
                </a:solidFill>
                <a:latin typeface="Calibri"/>
              </a:rPr>
              <a:t>76</a:t>
            </a:r>
          </a:p>
        </p:txBody>
      </p:sp>
      <p:sp>
        <p:nvSpPr>
          <p:cNvPr id="17" name="TextBox 16"/>
          <p:cNvSpPr txBox="1"/>
          <p:nvPr/>
        </p:nvSpPr>
        <p:spPr>
          <a:xfrm>
            <a:off x="3657600" y="4663439"/>
            <a:ext cx="5486400" cy="411480"/>
          </a:xfrm>
          <a:prstGeom prst="rect">
            <a:avLst/>
          </a:prstGeom>
          <a:noFill/>
        </p:spPr>
        <p:txBody>
          <a:bodyPr wrap="square" anchor="t"/>
          <a:lstStyle/>
          <a:p>
            <a:pPr algn="l"/>
            <a:r>
              <a:rPr sz="2000" b="0" i="0">
                <a:solidFill>
                  <a:srgbClr val="000000"/>
                </a:solidFill>
                <a:latin typeface="Calibri"/>
              </a:rPr>
              <a:t>en la columna vertebral y pelvis</a:t>
            </a:r>
          </a:p>
        </p:txBody>
      </p:sp>
      <p:sp>
        <p:nvSpPr>
          <p:cNvPr id="18" name="Rectangle 17"/>
          <p:cNvSpPr/>
          <p:nvPr/>
        </p:nvSpPr>
        <p:spPr>
          <a:xfrm>
            <a:off x="2286000" y="5212080"/>
            <a:ext cx="1097280" cy="41148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86000" y="5212080"/>
            <a:ext cx="1097280" cy="411480"/>
          </a:xfrm>
          <a:prstGeom prst="rect">
            <a:avLst/>
          </a:prstGeom>
          <a:noFill/>
        </p:spPr>
        <p:txBody>
          <a:bodyPr wrap="square" anchor="t"/>
          <a:lstStyle/>
          <a:p>
            <a:pPr algn="ctr"/>
            <a:r>
              <a:rPr sz="2200" b="1" i="0">
                <a:solidFill>
                  <a:srgbClr val="FFFFFF"/>
                </a:solidFill>
                <a:latin typeface="Calibri"/>
              </a:rPr>
              <a:t>32</a:t>
            </a:r>
          </a:p>
        </p:txBody>
      </p:sp>
      <p:sp>
        <p:nvSpPr>
          <p:cNvPr id="20" name="TextBox 19"/>
          <p:cNvSpPr txBox="1"/>
          <p:nvPr/>
        </p:nvSpPr>
        <p:spPr>
          <a:xfrm>
            <a:off x="3657600" y="5212080"/>
            <a:ext cx="5486400" cy="411480"/>
          </a:xfrm>
          <a:prstGeom prst="rect">
            <a:avLst/>
          </a:prstGeom>
          <a:noFill/>
        </p:spPr>
        <p:txBody>
          <a:bodyPr wrap="square" anchor="t"/>
          <a:lstStyle/>
          <a:p>
            <a:pPr algn="l"/>
            <a:r>
              <a:rPr sz="2000" b="0" i="0">
                <a:solidFill>
                  <a:srgbClr val="000000"/>
                </a:solidFill>
                <a:latin typeface="Calibri"/>
              </a:rPr>
              <a:t>en cada extremidad superior (x2 = 64)</a:t>
            </a:r>
          </a:p>
        </p:txBody>
      </p:sp>
      <p:sp>
        <p:nvSpPr>
          <p:cNvPr id="21" name="Rectangle 20"/>
          <p:cNvSpPr/>
          <p:nvPr/>
        </p:nvSpPr>
        <p:spPr>
          <a:xfrm>
            <a:off x="2286000" y="5760720"/>
            <a:ext cx="1097280" cy="41148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86000" y="5760720"/>
            <a:ext cx="1097280" cy="411480"/>
          </a:xfrm>
          <a:prstGeom prst="rect">
            <a:avLst/>
          </a:prstGeom>
          <a:noFill/>
        </p:spPr>
        <p:txBody>
          <a:bodyPr wrap="square" anchor="t"/>
          <a:lstStyle/>
          <a:p>
            <a:pPr algn="ctr"/>
            <a:r>
              <a:rPr sz="2200" b="1" i="0">
                <a:solidFill>
                  <a:srgbClr val="FFFFFF"/>
                </a:solidFill>
                <a:latin typeface="Calibri"/>
              </a:rPr>
              <a:t>31</a:t>
            </a:r>
          </a:p>
        </p:txBody>
      </p:sp>
      <p:sp>
        <p:nvSpPr>
          <p:cNvPr id="23" name="TextBox 22"/>
          <p:cNvSpPr txBox="1"/>
          <p:nvPr/>
        </p:nvSpPr>
        <p:spPr>
          <a:xfrm>
            <a:off x="3657600" y="5760720"/>
            <a:ext cx="5486400" cy="411480"/>
          </a:xfrm>
          <a:prstGeom prst="rect">
            <a:avLst/>
          </a:prstGeom>
          <a:noFill/>
        </p:spPr>
        <p:txBody>
          <a:bodyPr wrap="square" anchor="t"/>
          <a:lstStyle/>
          <a:p>
            <a:pPr algn="l"/>
            <a:r>
              <a:rPr sz="2000" b="0" i="0">
                <a:solidFill>
                  <a:srgbClr val="000000"/>
                </a:solidFill>
                <a:latin typeface="Calibri"/>
              </a:rPr>
              <a:t>en cada extremidad inferior (x2 = 62)</a:t>
            </a:r>
          </a:p>
        </p:txBody>
      </p:sp>
    </p:spTree>
  </p:cSld>
  <p:clrMapOvr>
    <a:masterClrMapping/>
  </p:clrMapOvr>
  <p:transition advTm="10000" spd="med"/>
</p:sld>
</file>

<file path=ppt/slides/slide9.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200" b="1" i="0">
                <a:solidFill>
                  <a:srgbClr val="FFFFFF"/>
                </a:solidFill>
                <a:latin typeface="Calibri"/>
              </a:rPr>
              <a:t>TIPOS DE ARTICULACIONES (SEGÚN SU ESTRUCTURA)</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011680"/>
            <a:ext cx="3474720" cy="64008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057400"/>
            <a:ext cx="3474720" cy="320040"/>
          </a:xfrm>
          <a:prstGeom prst="rect">
            <a:avLst/>
          </a:prstGeom>
          <a:noFill/>
        </p:spPr>
        <p:txBody>
          <a:bodyPr wrap="square" anchor="t"/>
          <a:lstStyle/>
          <a:p>
            <a:pPr algn="ctr"/>
            <a:r>
              <a:rPr sz="2200" b="1" i="0">
                <a:solidFill>
                  <a:srgbClr val="FFFFFF"/>
                </a:solidFill>
                <a:latin typeface="Calibri"/>
              </a:rPr>
              <a:t>Fibrosas</a:t>
            </a:r>
          </a:p>
        </p:txBody>
      </p:sp>
      <p:sp>
        <p:nvSpPr>
          <p:cNvPr id="7" name="TextBox 6"/>
          <p:cNvSpPr txBox="1"/>
          <p:nvPr/>
        </p:nvSpPr>
        <p:spPr>
          <a:xfrm>
            <a:off x="731520" y="2377440"/>
            <a:ext cx="3474720" cy="320040"/>
          </a:xfrm>
          <a:prstGeom prst="rect">
            <a:avLst/>
          </a:prstGeom>
          <a:noFill/>
        </p:spPr>
        <p:txBody>
          <a:bodyPr wrap="square" anchor="t"/>
          <a:lstStyle/>
          <a:p>
            <a:pPr algn="ctr"/>
            <a:r>
              <a:rPr sz="1600" b="0" i="0">
                <a:solidFill>
                  <a:srgbClr val="FFFFFF"/>
                </a:solidFill>
                <a:latin typeface="Calibri"/>
              </a:rPr>
              <a:t>(Inmóviles)</a:t>
            </a:r>
          </a:p>
        </p:txBody>
      </p:sp>
      <p:sp>
        <p:nvSpPr>
          <p:cNvPr id="8" name="TextBox 7"/>
          <p:cNvSpPr txBox="1"/>
          <p:nvPr/>
        </p:nvSpPr>
        <p:spPr>
          <a:xfrm>
            <a:off x="914400" y="2926080"/>
            <a:ext cx="3108960" cy="365760"/>
          </a:xfrm>
          <a:prstGeom prst="rect">
            <a:avLst/>
          </a:prstGeom>
          <a:noFill/>
        </p:spPr>
        <p:txBody>
          <a:bodyPr wrap="square" anchor="t"/>
          <a:lstStyle/>
          <a:p>
            <a:pPr algn="l"/>
            <a:r>
              <a:rPr sz="1800" b="0" i="0">
                <a:solidFill>
                  <a:srgbClr val="000000"/>
                </a:solidFill>
                <a:latin typeface="Calibri"/>
              </a:rPr>
              <a:t>• Suturas del cráneo</a:t>
            </a:r>
          </a:p>
        </p:txBody>
      </p:sp>
      <p:sp>
        <p:nvSpPr>
          <p:cNvPr id="9" name="TextBox 8"/>
          <p:cNvSpPr txBox="1"/>
          <p:nvPr/>
        </p:nvSpPr>
        <p:spPr>
          <a:xfrm>
            <a:off x="914400" y="3337560"/>
            <a:ext cx="3108960" cy="365760"/>
          </a:xfrm>
          <a:prstGeom prst="rect">
            <a:avLst/>
          </a:prstGeom>
          <a:noFill/>
        </p:spPr>
        <p:txBody>
          <a:bodyPr wrap="square" anchor="t"/>
          <a:lstStyle/>
          <a:p>
            <a:pPr algn="l"/>
            <a:r>
              <a:rPr sz="1800" b="0" i="0">
                <a:solidFill>
                  <a:srgbClr val="000000"/>
                </a:solidFill>
                <a:latin typeface="Calibri"/>
              </a:rPr>
              <a:t>• Sindesmosis</a:t>
            </a:r>
          </a:p>
        </p:txBody>
      </p:sp>
      <p:sp>
        <p:nvSpPr>
          <p:cNvPr id="10" name="TextBox 9"/>
          <p:cNvSpPr txBox="1"/>
          <p:nvPr/>
        </p:nvSpPr>
        <p:spPr>
          <a:xfrm>
            <a:off x="914400" y="3749040"/>
            <a:ext cx="3108960" cy="365760"/>
          </a:xfrm>
          <a:prstGeom prst="rect">
            <a:avLst/>
          </a:prstGeom>
          <a:noFill/>
        </p:spPr>
        <p:txBody>
          <a:bodyPr wrap="square" anchor="t"/>
          <a:lstStyle/>
          <a:p>
            <a:pPr algn="l"/>
            <a:r>
              <a:rPr sz="1800" b="0" i="0">
                <a:solidFill>
                  <a:srgbClr val="000000"/>
                </a:solidFill>
                <a:latin typeface="Calibri"/>
              </a:rPr>
              <a:t>• Gonfosis</a:t>
            </a:r>
          </a:p>
        </p:txBody>
      </p:sp>
      <p:sp>
        <p:nvSpPr>
          <p:cNvPr id="11" name="Rectangle 10"/>
          <p:cNvSpPr/>
          <p:nvPr/>
        </p:nvSpPr>
        <p:spPr>
          <a:xfrm>
            <a:off x="4572000" y="2011680"/>
            <a:ext cx="3474720" cy="64008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057400"/>
            <a:ext cx="3474720" cy="320040"/>
          </a:xfrm>
          <a:prstGeom prst="rect">
            <a:avLst/>
          </a:prstGeom>
          <a:noFill/>
        </p:spPr>
        <p:txBody>
          <a:bodyPr wrap="square" anchor="t"/>
          <a:lstStyle/>
          <a:p>
            <a:pPr algn="ctr"/>
            <a:r>
              <a:rPr sz="2200" b="1" i="0">
                <a:solidFill>
                  <a:srgbClr val="FFFFFF"/>
                </a:solidFill>
                <a:latin typeface="Calibri"/>
              </a:rPr>
              <a:t>Cartilaginosas</a:t>
            </a:r>
          </a:p>
        </p:txBody>
      </p:sp>
      <p:sp>
        <p:nvSpPr>
          <p:cNvPr id="13" name="TextBox 12"/>
          <p:cNvSpPr txBox="1"/>
          <p:nvPr/>
        </p:nvSpPr>
        <p:spPr>
          <a:xfrm>
            <a:off x="4572000" y="2377440"/>
            <a:ext cx="3474720" cy="320040"/>
          </a:xfrm>
          <a:prstGeom prst="rect">
            <a:avLst/>
          </a:prstGeom>
          <a:noFill/>
        </p:spPr>
        <p:txBody>
          <a:bodyPr wrap="square" anchor="t"/>
          <a:lstStyle/>
          <a:p>
            <a:pPr algn="ctr"/>
            <a:r>
              <a:rPr sz="1600" b="0" i="0">
                <a:solidFill>
                  <a:srgbClr val="FFFFFF"/>
                </a:solidFill>
                <a:latin typeface="Calibri"/>
              </a:rPr>
              <a:t>(Parcialmente móviles)</a:t>
            </a:r>
          </a:p>
        </p:txBody>
      </p:sp>
      <p:sp>
        <p:nvSpPr>
          <p:cNvPr id="14" name="TextBox 13"/>
          <p:cNvSpPr txBox="1"/>
          <p:nvPr/>
        </p:nvSpPr>
        <p:spPr>
          <a:xfrm>
            <a:off x="4754880" y="2926080"/>
            <a:ext cx="3108960" cy="365760"/>
          </a:xfrm>
          <a:prstGeom prst="rect">
            <a:avLst/>
          </a:prstGeom>
          <a:noFill/>
        </p:spPr>
        <p:txBody>
          <a:bodyPr wrap="square" anchor="t"/>
          <a:lstStyle/>
          <a:p>
            <a:pPr algn="l"/>
            <a:r>
              <a:rPr sz="1800" b="0" i="0">
                <a:solidFill>
                  <a:srgbClr val="000000"/>
                </a:solidFill>
                <a:latin typeface="Calibri"/>
              </a:rPr>
              <a:t>• Sínfisis del pubis</a:t>
            </a:r>
          </a:p>
        </p:txBody>
      </p:sp>
      <p:sp>
        <p:nvSpPr>
          <p:cNvPr id="15" name="TextBox 14"/>
          <p:cNvSpPr txBox="1"/>
          <p:nvPr/>
        </p:nvSpPr>
        <p:spPr>
          <a:xfrm>
            <a:off x="4754880" y="3337560"/>
            <a:ext cx="3108960" cy="365760"/>
          </a:xfrm>
          <a:prstGeom prst="rect">
            <a:avLst/>
          </a:prstGeom>
          <a:noFill/>
        </p:spPr>
        <p:txBody>
          <a:bodyPr wrap="square" anchor="t"/>
          <a:lstStyle/>
          <a:p>
            <a:pPr algn="l"/>
            <a:r>
              <a:rPr sz="1800" b="0" i="0">
                <a:solidFill>
                  <a:srgbClr val="000000"/>
                </a:solidFill>
                <a:latin typeface="Calibri"/>
              </a:rPr>
              <a:t>• Discos intervertebrales</a:t>
            </a:r>
          </a:p>
        </p:txBody>
      </p:sp>
      <p:sp>
        <p:nvSpPr>
          <p:cNvPr id="16" name="Rectangle 15"/>
          <p:cNvSpPr/>
          <p:nvPr/>
        </p:nvSpPr>
        <p:spPr>
          <a:xfrm>
            <a:off x="8412480" y="2011680"/>
            <a:ext cx="3474720" cy="64008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057400"/>
            <a:ext cx="3474720" cy="320040"/>
          </a:xfrm>
          <a:prstGeom prst="rect">
            <a:avLst/>
          </a:prstGeom>
          <a:noFill/>
        </p:spPr>
        <p:txBody>
          <a:bodyPr wrap="square" anchor="t"/>
          <a:lstStyle/>
          <a:p>
            <a:pPr algn="ctr"/>
            <a:r>
              <a:rPr sz="2200" b="1" i="0">
                <a:solidFill>
                  <a:srgbClr val="FFFFFF"/>
                </a:solidFill>
                <a:latin typeface="Calibri"/>
              </a:rPr>
              <a:t>Sinoviales</a:t>
            </a:r>
          </a:p>
        </p:txBody>
      </p:sp>
      <p:sp>
        <p:nvSpPr>
          <p:cNvPr id="18" name="TextBox 17"/>
          <p:cNvSpPr txBox="1"/>
          <p:nvPr/>
        </p:nvSpPr>
        <p:spPr>
          <a:xfrm>
            <a:off x="8412480" y="2377440"/>
            <a:ext cx="3474720" cy="320040"/>
          </a:xfrm>
          <a:prstGeom prst="rect">
            <a:avLst/>
          </a:prstGeom>
          <a:noFill/>
        </p:spPr>
        <p:txBody>
          <a:bodyPr wrap="square" anchor="t"/>
          <a:lstStyle/>
          <a:p>
            <a:pPr algn="ctr"/>
            <a:r>
              <a:rPr sz="1600" b="0" i="0">
                <a:solidFill>
                  <a:srgbClr val="FFFFFF"/>
                </a:solidFill>
                <a:latin typeface="Calibri"/>
              </a:rPr>
              <a:t>(Móviles)</a:t>
            </a:r>
          </a:p>
        </p:txBody>
      </p:sp>
      <p:sp>
        <p:nvSpPr>
          <p:cNvPr id="19" name="TextBox 18"/>
          <p:cNvSpPr txBox="1"/>
          <p:nvPr/>
        </p:nvSpPr>
        <p:spPr>
          <a:xfrm>
            <a:off x="8595360" y="2926080"/>
            <a:ext cx="3108960" cy="365760"/>
          </a:xfrm>
          <a:prstGeom prst="rect">
            <a:avLst/>
          </a:prstGeom>
          <a:noFill/>
        </p:spPr>
        <p:txBody>
          <a:bodyPr wrap="square" anchor="t"/>
          <a:lstStyle/>
          <a:p>
            <a:pPr algn="l"/>
            <a:r>
              <a:rPr sz="1800" b="0" i="0">
                <a:solidFill>
                  <a:srgbClr val="000000"/>
                </a:solidFill>
                <a:latin typeface="Calibri"/>
              </a:rPr>
              <a:t>• Flexión / Extensión</a:t>
            </a:r>
          </a:p>
        </p:txBody>
      </p:sp>
      <p:sp>
        <p:nvSpPr>
          <p:cNvPr id="20" name="TextBox 19"/>
          <p:cNvSpPr txBox="1"/>
          <p:nvPr/>
        </p:nvSpPr>
        <p:spPr>
          <a:xfrm>
            <a:off x="8595360" y="3337560"/>
            <a:ext cx="3108960" cy="365760"/>
          </a:xfrm>
          <a:prstGeom prst="rect">
            <a:avLst/>
          </a:prstGeom>
          <a:noFill/>
        </p:spPr>
        <p:txBody>
          <a:bodyPr wrap="square" anchor="t"/>
          <a:lstStyle/>
          <a:p>
            <a:pPr algn="l"/>
            <a:r>
              <a:rPr sz="1800" b="0" i="0">
                <a:solidFill>
                  <a:srgbClr val="000000"/>
                </a:solidFill>
                <a:latin typeface="Calibri"/>
              </a:rPr>
              <a:t>• Abducción / Aducción</a:t>
            </a:r>
          </a:p>
        </p:txBody>
      </p:sp>
      <p:sp>
        <p:nvSpPr>
          <p:cNvPr id="21" name="TextBox 20"/>
          <p:cNvSpPr txBox="1"/>
          <p:nvPr/>
        </p:nvSpPr>
        <p:spPr>
          <a:xfrm>
            <a:off x="8595360" y="3749040"/>
            <a:ext cx="3108960" cy="365760"/>
          </a:xfrm>
          <a:prstGeom prst="rect">
            <a:avLst/>
          </a:prstGeom>
          <a:noFill/>
        </p:spPr>
        <p:txBody>
          <a:bodyPr wrap="square" anchor="t"/>
          <a:lstStyle/>
          <a:p>
            <a:pPr algn="l"/>
            <a:r>
              <a:rPr sz="1800" b="0" i="0">
                <a:solidFill>
                  <a:srgbClr val="000000"/>
                </a:solidFill>
                <a:latin typeface="Calibri"/>
              </a:rPr>
              <a:t>• Rotación</a:t>
            </a:r>
          </a:p>
        </p:txBody>
      </p:sp>
      <p:sp>
        <p:nvSpPr>
          <p:cNvPr id="22" name="TextBox 21"/>
          <p:cNvSpPr txBox="1"/>
          <p:nvPr/>
        </p:nvSpPr>
        <p:spPr>
          <a:xfrm>
            <a:off x="8595360" y="4160520"/>
            <a:ext cx="3108960" cy="365760"/>
          </a:xfrm>
          <a:prstGeom prst="rect">
            <a:avLst/>
          </a:prstGeom>
          <a:noFill/>
        </p:spPr>
        <p:txBody>
          <a:bodyPr wrap="square" anchor="t"/>
          <a:lstStyle/>
          <a:p>
            <a:pPr algn="l"/>
            <a:r>
              <a:rPr sz="1800" b="0" i="0">
                <a:solidFill>
                  <a:srgbClr val="000000"/>
                </a:solidFill>
                <a:latin typeface="Calibri"/>
              </a:rPr>
              <a:t>• Circunducción</a:t>
            </a:r>
          </a:p>
        </p:txBody>
      </p:sp>
    </p:spTree>
  </p:cSld>
  <p:clrMapOvr>
    <a:masterClrMapping/>
  </p:clrMapOvr>
  <p:transition advTm="10000" spd="med"/>
</p:sld>
</file>

<file path=ppt/slides/slide10.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LA COLUMNA VERTEBRAL</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5029200" cy="4572000"/>
          </a:xfrm>
          <a:prstGeom prst="rect">
            <a:avLst/>
          </a:prstGeom>
          <a:noFill/>
        </p:spPr>
        <p:txBody>
          <a:bodyPr wrap="square">
            <a:spAutoFit/>
          </a:bodyPr>
          <a:lstStyle/>
          <a:p>
            <a:pPr algn="l">
              <a:spcAft>
                <a:spcPts val="400"/>
              </a:spcAft>
            </a:pPr>
            <a:r>
              <a:rPr sz="2000" b="1">
                <a:solidFill>
                  <a:srgbClr val="8B1A1A"/>
                </a:solidFill>
                <a:latin typeface="Calibri"/>
              </a:rPr>
              <a:t>5 regiones • 33 vértebras (niñez) / 26 (adulto)</a:t>
            </a:r>
          </a:p>
          <a:p>
            <a:pPr algn="l">
              <a:spcAft>
                <a:spcPts val="400"/>
              </a:spcAft>
            </a:pPr>
            <a:r>
              <a:rPr sz="1800" b="0">
                <a:solidFill>
                  <a:srgbClr val="000000"/>
                </a:solidFill>
                <a:latin typeface="Calibri"/>
              </a:rPr>
              <a:t/>
            </a:r>
          </a:p>
          <a:p>
            <a:pPr algn="l">
              <a:spcAft>
                <a:spcPts val="400"/>
              </a:spcAft>
            </a:pPr>
            <a:r>
              <a:rPr sz="2000" b="1">
                <a:solidFill>
                  <a:srgbClr val="E87A2E"/>
                </a:solidFill>
                <a:latin typeface="Calibri"/>
              </a:rPr>
              <a:t>Región Cervical</a:t>
            </a:r>
          </a:p>
          <a:p>
            <a:pPr algn="l">
              <a:spcAft>
                <a:spcPts val="400"/>
              </a:spcAft>
            </a:pPr>
            <a:r>
              <a:rPr sz="1800" b="0">
                <a:solidFill>
                  <a:srgbClr val="000000"/>
                </a:solidFill>
                <a:latin typeface="Calibri"/>
              </a:rPr>
              <a:t>7 vértebras (C1-C7)</a:t>
            </a:r>
          </a:p>
          <a:p>
            <a:pPr algn="l">
              <a:spcAft>
                <a:spcPts val="400"/>
              </a:spcAft>
            </a:pPr>
            <a:r>
              <a:rPr sz="1800" b="0">
                <a:solidFill>
                  <a:srgbClr val="000000"/>
                </a:solidFill>
                <a:latin typeface="Calibri"/>
              </a:rPr>
              <a:t/>
            </a:r>
          </a:p>
          <a:p>
            <a:pPr algn="l">
              <a:spcAft>
                <a:spcPts val="400"/>
              </a:spcAft>
            </a:pPr>
            <a:r>
              <a:rPr sz="2000" b="1">
                <a:solidFill>
                  <a:srgbClr val="E87A2E"/>
                </a:solidFill>
                <a:latin typeface="Calibri"/>
              </a:rPr>
              <a:t>Región Torácica</a:t>
            </a:r>
          </a:p>
          <a:p>
            <a:pPr algn="l">
              <a:spcAft>
                <a:spcPts val="400"/>
              </a:spcAft>
            </a:pPr>
            <a:r>
              <a:rPr sz="1800" b="0">
                <a:solidFill>
                  <a:srgbClr val="000000"/>
                </a:solidFill>
                <a:latin typeface="Calibri"/>
              </a:rPr>
              <a:t>12 vértebras (T1-T12)</a:t>
            </a:r>
          </a:p>
          <a:p>
            <a:pPr algn="l">
              <a:spcAft>
                <a:spcPts val="400"/>
              </a:spcAft>
            </a:pPr>
            <a:r>
              <a:rPr sz="1800" b="0">
                <a:solidFill>
                  <a:srgbClr val="000000"/>
                </a:solidFill>
                <a:latin typeface="Calibri"/>
              </a:rPr>
              <a:t/>
            </a:r>
          </a:p>
          <a:p>
            <a:pPr algn="l">
              <a:spcAft>
                <a:spcPts val="400"/>
              </a:spcAft>
            </a:pPr>
            <a:r>
              <a:rPr sz="2000" b="1">
                <a:solidFill>
                  <a:srgbClr val="E87A2E"/>
                </a:solidFill>
                <a:latin typeface="Calibri"/>
              </a:rPr>
              <a:t>Región Lumbar</a:t>
            </a:r>
          </a:p>
          <a:p>
            <a:pPr algn="l">
              <a:spcAft>
                <a:spcPts val="400"/>
              </a:spcAft>
            </a:pPr>
            <a:r>
              <a:rPr sz="1800" b="0">
                <a:solidFill>
                  <a:srgbClr val="000000"/>
                </a:solidFill>
                <a:latin typeface="Calibri"/>
              </a:rPr>
              <a:t>5 vértebras (L1-L5)</a:t>
            </a:r>
          </a:p>
          <a:p>
            <a:pPr algn="l">
              <a:spcAft>
                <a:spcPts val="400"/>
              </a:spcAft>
            </a:pPr>
            <a:r>
              <a:rPr sz="1800" b="0">
                <a:solidFill>
                  <a:srgbClr val="000000"/>
                </a:solidFill>
                <a:latin typeface="Calibri"/>
              </a:rPr>
              <a:t/>
            </a:r>
          </a:p>
          <a:p>
            <a:pPr algn="l">
              <a:spcAft>
                <a:spcPts val="400"/>
              </a:spcAft>
            </a:pPr>
            <a:r>
              <a:rPr sz="2000" b="1">
                <a:solidFill>
                  <a:srgbClr val="E87A2E"/>
                </a:solidFill>
                <a:latin typeface="Calibri"/>
              </a:rPr>
              <a:t>Sacro</a:t>
            </a:r>
          </a:p>
          <a:p>
            <a:pPr algn="l">
              <a:spcAft>
                <a:spcPts val="400"/>
              </a:spcAft>
            </a:pPr>
            <a:r>
              <a:rPr sz="1800" b="0">
                <a:solidFill>
                  <a:srgbClr val="000000"/>
                </a:solidFill>
                <a:latin typeface="Calibri"/>
              </a:rPr>
              <a:t>5 vértebras fusionadas</a:t>
            </a:r>
          </a:p>
          <a:p>
            <a:pPr algn="l">
              <a:spcAft>
                <a:spcPts val="400"/>
              </a:spcAft>
            </a:pPr>
            <a:r>
              <a:rPr sz="1800" b="0">
                <a:solidFill>
                  <a:srgbClr val="000000"/>
                </a:solidFill>
                <a:latin typeface="Calibri"/>
              </a:rPr>
              <a:t/>
            </a:r>
          </a:p>
          <a:p>
            <a:pPr algn="l">
              <a:spcAft>
                <a:spcPts val="400"/>
              </a:spcAft>
            </a:pPr>
            <a:r>
              <a:rPr sz="2000" b="1">
                <a:solidFill>
                  <a:srgbClr val="E87A2E"/>
                </a:solidFill>
                <a:latin typeface="Calibri"/>
              </a:rPr>
              <a:t>Coxis</a:t>
            </a:r>
          </a:p>
          <a:p>
            <a:pPr algn="l">
              <a:spcAft>
                <a:spcPts val="400"/>
              </a:spcAft>
            </a:pPr>
            <a:r>
              <a:rPr sz="1800" b="0">
                <a:solidFill>
                  <a:srgbClr val="000000"/>
                </a:solidFill>
                <a:latin typeface="Calibri"/>
              </a:rPr>
              <a:t>4 vértebras fusionadas</a:t>
            </a:r>
          </a:p>
        </p:txBody>
      </p:sp>
      <p:sp>
        <p:nvSpPr>
          <p:cNvPr id="6" name="TextBox 5"/>
          <p:cNvSpPr txBox="1"/>
          <p:nvPr/>
        </p:nvSpPr>
        <p:spPr>
          <a:xfrm>
            <a:off x="6400800" y="2011680"/>
            <a:ext cx="5029200" cy="4572000"/>
          </a:xfrm>
          <a:prstGeom prst="rect">
            <a:avLst/>
          </a:prstGeom>
          <a:noFill/>
        </p:spPr>
        <p:txBody>
          <a:bodyPr wrap="square">
            <a:spAutoFit/>
          </a:bodyPr>
          <a:lstStyle/>
          <a:p>
            <a:pPr algn="l">
              <a:spcAft>
                <a:spcPts val="400"/>
              </a:spcAft>
            </a:pPr>
            <a:r>
              <a:rPr sz="2000" b="1">
                <a:solidFill>
                  <a:srgbClr val="8B1A1A"/>
                </a:solidFill>
                <a:latin typeface="Calibri"/>
              </a:rPr>
              <a:t>Componentes importantes:</a:t>
            </a:r>
          </a:p>
          <a:p>
            <a:pPr algn="l">
              <a:spcAft>
                <a:spcPts val="400"/>
              </a:spcAft>
            </a:pPr>
            <a:r>
              <a:rPr sz="1800" b="0">
                <a:solidFill>
                  <a:srgbClr val="000000"/>
                </a:solidFill>
                <a:latin typeface="Calibri"/>
              </a:rPr>
              <a:t/>
            </a:r>
          </a:p>
          <a:p>
            <a:pPr algn="l">
              <a:spcAft>
                <a:spcPts val="400"/>
              </a:spcAft>
            </a:pPr>
            <a:r>
              <a:rPr sz="1800" b="0">
                <a:solidFill>
                  <a:srgbClr val="000000"/>
                </a:solidFill>
                <a:latin typeface="Calibri"/>
              </a:rPr>
              <a:t>• Disco intervertebral: amortiguador entre vértebras</a:t>
            </a:r>
          </a:p>
          <a:p>
            <a:pPr algn="l">
              <a:spcAft>
                <a:spcPts val="400"/>
              </a:spcAft>
            </a:pPr>
            <a:r>
              <a:rPr sz="1800" b="0">
                <a:solidFill>
                  <a:srgbClr val="000000"/>
                </a:solidFill>
                <a:latin typeface="Calibri"/>
              </a:rPr>
              <a:t>• Nervios espinales: salen entre cada vértebra</a:t>
            </a:r>
          </a:p>
          <a:p>
            <a:pPr algn="l">
              <a:spcAft>
                <a:spcPts val="400"/>
              </a:spcAft>
            </a:pPr>
            <a:r>
              <a:rPr sz="1800" b="0">
                <a:solidFill>
                  <a:srgbClr val="000000"/>
                </a:solidFill>
                <a:latin typeface="Calibri"/>
              </a:rPr>
              <a:t>• Curvaturas naturales: lordosis cervical, cifosis torácica, lordosis lumbar</a:t>
            </a:r>
          </a:p>
          <a:p>
            <a:pPr algn="l">
              <a:spcAft>
                <a:spcPts val="400"/>
              </a:spcAft>
            </a:pPr>
            <a:r>
              <a:rPr sz="1800" b="0">
                <a:solidFill>
                  <a:srgbClr val="000000"/>
                </a:solidFill>
                <a:latin typeface="Calibri"/>
              </a:rPr>
              <a:t/>
            </a:r>
          </a:p>
          <a:p>
            <a:pPr algn="l">
              <a:spcAft>
                <a:spcPts val="400"/>
              </a:spcAft>
            </a:pPr>
            <a:r>
              <a:rPr sz="2000" b="1">
                <a:solidFill>
                  <a:srgbClr val="E87A2E"/>
                </a:solidFill>
                <a:latin typeface="Calibri"/>
              </a:rPr>
              <a:t>En Pilates:</a:t>
            </a:r>
          </a:p>
          <a:p>
            <a:pPr algn="l">
              <a:spcAft>
                <a:spcPts val="400"/>
              </a:spcAft>
            </a:pPr>
            <a:r>
              <a:rPr sz="1800" b="0">
                <a:solidFill>
                  <a:srgbClr val="000000"/>
                </a:solidFill>
                <a:latin typeface="Calibri"/>
              </a:rPr>
              <a:t>La alineación y movilidad de la columna son fundamentales. Los ejercicios trabajan la articulación vértebra por vértebra.</a:t>
            </a:r>
          </a:p>
        </p:txBody>
      </p:sp>
    </p:spTree>
  </p:cSld>
  <p:clrMapOvr>
    <a:masterClrMapping/>
  </p:clrMapOvr>
  <p:transition advTm="10000" spd="med"/>
</p:sld>
</file>

<file path=ppt/slides/slide11.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ARTICULACIÓN DEL HOMBRO</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10058400" cy="4572000"/>
          </a:xfrm>
          <a:prstGeom prst="rect">
            <a:avLst/>
          </a:prstGeom>
          <a:noFill/>
        </p:spPr>
        <p:txBody>
          <a:bodyPr wrap="square">
            <a:spAutoFit/>
          </a:bodyPr>
          <a:lstStyle/>
          <a:p>
            <a:pPr algn="l">
              <a:spcAft>
                <a:spcPts val="400"/>
              </a:spcAft>
            </a:pPr>
            <a:r>
              <a:rPr sz="2400" b="1">
                <a:solidFill>
                  <a:srgbClr val="8B1A1A"/>
                </a:solidFill>
                <a:latin typeface="Calibri"/>
              </a:rPr>
              <a:t>La articulación más móvil del cuerpo</a:t>
            </a:r>
          </a:p>
          <a:p>
            <a:pPr algn="l">
              <a:spcAft>
                <a:spcPts val="400"/>
              </a:spcAft>
            </a:pPr>
            <a:r>
              <a:rPr sz="2000" b="0">
                <a:solidFill>
                  <a:srgbClr val="000000"/>
                </a:solidFill>
                <a:latin typeface="Calibri"/>
              </a:rPr>
              <a:t/>
            </a:r>
          </a:p>
          <a:p>
            <a:pPr algn="l">
              <a:spcAft>
                <a:spcPts val="400"/>
              </a:spcAft>
            </a:pPr>
            <a:r>
              <a:rPr sz="2200" b="1">
                <a:solidFill>
                  <a:srgbClr val="E87A2E"/>
                </a:solidFill>
                <a:latin typeface="Calibri"/>
              </a:rPr>
              <a:t>Componentes:</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 Acromion: parte superior de la escápula</a:t>
            </a:r>
          </a:p>
          <a:p>
            <a:pPr algn="l">
              <a:spcAft>
                <a:spcPts val="400"/>
              </a:spcAft>
            </a:pPr>
            <a:r>
              <a:rPr sz="2000" b="0">
                <a:solidFill>
                  <a:srgbClr val="000000"/>
                </a:solidFill>
                <a:latin typeface="Calibri"/>
              </a:rPr>
              <a:t>• Clavícula: conecta el esternón con la escápula</a:t>
            </a:r>
          </a:p>
          <a:p>
            <a:pPr algn="l">
              <a:spcAft>
                <a:spcPts val="400"/>
              </a:spcAft>
            </a:pPr>
            <a:r>
              <a:rPr sz="2000" b="0">
                <a:solidFill>
                  <a:srgbClr val="000000"/>
                </a:solidFill>
                <a:latin typeface="Calibri"/>
              </a:rPr>
              <a:t>• Cabeza del húmero: se articula con la cavidad glenoidea</a:t>
            </a:r>
          </a:p>
          <a:p>
            <a:pPr algn="l">
              <a:spcAft>
                <a:spcPts val="400"/>
              </a:spcAft>
            </a:pPr>
            <a:r>
              <a:rPr sz="2000" b="0">
                <a:solidFill>
                  <a:srgbClr val="000000"/>
                </a:solidFill>
                <a:latin typeface="Calibri"/>
              </a:rPr>
              <a:t>• Manguito de los rotadores: grupo de 4 músculos que estabilizan</a:t>
            </a:r>
          </a:p>
          <a:p>
            <a:pPr algn="l">
              <a:spcAft>
                <a:spcPts val="400"/>
              </a:spcAft>
            </a:pPr>
            <a:r>
              <a:rPr sz="2000" b="0">
                <a:solidFill>
                  <a:srgbClr val="000000"/>
                </a:solidFill>
                <a:latin typeface="Calibri"/>
              </a:rPr>
              <a:t>  (Supraespinoso, Infraespinoso, Redondo menor, Subescapular)</a:t>
            </a:r>
          </a:p>
          <a:p>
            <a:pPr algn="l">
              <a:spcAft>
                <a:spcPts val="400"/>
              </a:spcAft>
            </a:pPr>
            <a:r>
              <a:rPr sz="2000" b="0">
                <a:solidFill>
                  <a:srgbClr val="000000"/>
                </a:solidFill>
                <a:latin typeface="Calibri"/>
              </a:rPr>
              <a:t/>
            </a:r>
          </a:p>
          <a:p>
            <a:pPr algn="l">
              <a:spcAft>
                <a:spcPts val="400"/>
              </a:spcAft>
            </a:pPr>
            <a:r>
              <a:rPr sz="2200" b="1">
                <a:solidFill>
                  <a:srgbClr val="E87A2E"/>
                </a:solidFill>
                <a:latin typeface="Calibri"/>
              </a:rPr>
              <a:t>Movimientos:</a:t>
            </a:r>
          </a:p>
          <a:p>
            <a:pPr algn="l">
              <a:spcAft>
                <a:spcPts val="400"/>
              </a:spcAft>
            </a:pPr>
            <a:r>
              <a:rPr sz="2000" b="0">
                <a:solidFill>
                  <a:srgbClr val="000000"/>
                </a:solidFill>
                <a:latin typeface="Calibri"/>
              </a:rPr>
              <a:t>• Flexión y extensión</a:t>
            </a:r>
          </a:p>
          <a:p>
            <a:pPr algn="l">
              <a:spcAft>
                <a:spcPts val="400"/>
              </a:spcAft>
            </a:pPr>
            <a:r>
              <a:rPr sz="2000" b="0">
                <a:solidFill>
                  <a:srgbClr val="000000"/>
                </a:solidFill>
                <a:latin typeface="Calibri"/>
              </a:rPr>
              <a:t>• Abducción y aducción</a:t>
            </a:r>
          </a:p>
          <a:p>
            <a:pPr algn="l">
              <a:spcAft>
                <a:spcPts val="400"/>
              </a:spcAft>
            </a:pPr>
            <a:r>
              <a:rPr sz="2000" b="0">
                <a:solidFill>
                  <a:srgbClr val="000000"/>
                </a:solidFill>
                <a:latin typeface="Calibri"/>
              </a:rPr>
              <a:t>• Rotación interna y externa</a:t>
            </a:r>
          </a:p>
          <a:p>
            <a:pPr algn="l">
              <a:spcAft>
                <a:spcPts val="400"/>
              </a:spcAft>
            </a:pPr>
            <a:r>
              <a:rPr sz="2000" b="0">
                <a:solidFill>
                  <a:srgbClr val="000000"/>
                </a:solidFill>
                <a:latin typeface="Calibri"/>
              </a:rPr>
              <a:t>• Circunducción</a:t>
            </a:r>
          </a:p>
        </p:txBody>
      </p:sp>
    </p:spTree>
  </p:cSld>
  <p:clrMapOvr>
    <a:masterClrMapping/>
  </p:clrMapOvr>
  <p:transition advTm="10000" spd="med"/>
</p:sld>
</file>

<file path=ppt/slides/slide12.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LA ARTICULACIÓN DE LA CADERA</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10058400" cy="4572000"/>
          </a:xfrm>
          <a:prstGeom prst="rect">
            <a:avLst/>
          </a:prstGeom>
          <a:noFill/>
        </p:spPr>
        <p:txBody>
          <a:bodyPr wrap="square">
            <a:spAutoFit/>
          </a:bodyPr>
          <a:lstStyle/>
          <a:p>
            <a:pPr algn="l">
              <a:spcAft>
                <a:spcPts val="400"/>
              </a:spcAft>
            </a:pPr>
            <a:r>
              <a:rPr sz="2400" b="1">
                <a:solidFill>
                  <a:srgbClr val="8B1A1A"/>
                </a:solidFill>
                <a:latin typeface="Calibri"/>
              </a:rPr>
              <a:t>Articulación esférica (enartrosis)</a:t>
            </a:r>
          </a:p>
          <a:p>
            <a:pPr algn="l">
              <a:spcAft>
                <a:spcPts val="400"/>
              </a:spcAft>
            </a:pPr>
            <a:r>
              <a:rPr sz="2000" b="0">
                <a:solidFill>
                  <a:srgbClr val="000000"/>
                </a:solidFill>
                <a:latin typeface="Calibri"/>
              </a:rPr>
              <a:t/>
            </a:r>
          </a:p>
          <a:p>
            <a:pPr algn="l">
              <a:spcAft>
                <a:spcPts val="400"/>
              </a:spcAft>
            </a:pPr>
            <a:r>
              <a:rPr sz="2200" b="1">
                <a:solidFill>
                  <a:srgbClr val="E87A2E"/>
                </a:solidFill>
                <a:latin typeface="Calibri"/>
              </a:rPr>
              <a:t>Componentes (en español):</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 Acetábulo (Acetabulum): cavidad en el hueso coxal</a:t>
            </a:r>
          </a:p>
          <a:p>
            <a:pPr algn="l">
              <a:spcAft>
                <a:spcPts val="400"/>
              </a:spcAft>
            </a:pPr>
            <a:r>
              <a:rPr sz="2000" b="0">
                <a:solidFill>
                  <a:srgbClr val="000000"/>
                </a:solidFill>
                <a:latin typeface="Calibri"/>
              </a:rPr>
              <a:t>• Cabeza del fémur (Head of femur): encaja en el acetábulo</a:t>
            </a:r>
          </a:p>
          <a:p>
            <a:pPr algn="l">
              <a:spcAft>
                <a:spcPts val="400"/>
              </a:spcAft>
            </a:pPr>
            <a:r>
              <a:rPr sz="2000" b="0">
                <a:solidFill>
                  <a:srgbClr val="000000"/>
                </a:solidFill>
                <a:latin typeface="Calibri"/>
              </a:rPr>
              <a:t>• Trocánter mayor (Greater trochanter): prominencia lateral del fémur</a:t>
            </a:r>
          </a:p>
          <a:p>
            <a:pPr algn="l">
              <a:spcAft>
                <a:spcPts val="400"/>
              </a:spcAft>
            </a:pPr>
            <a:r>
              <a:rPr sz="2000" b="0">
                <a:solidFill>
                  <a:srgbClr val="000000"/>
                </a:solidFill>
                <a:latin typeface="Calibri"/>
              </a:rPr>
              <a:t>• Labrum acetabular: anillo de cartílago que profundiza la cavidad</a:t>
            </a:r>
          </a:p>
          <a:p>
            <a:pPr algn="l">
              <a:spcAft>
                <a:spcPts val="400"/>
              </a:spcAft>
            </a:pPr>
            <a:r>
              <a:rPr sz="2000" b="0">
                <a:solidFill>
                  <a:srgbClr val="000000"/>
                </a:solidFill>
                <a:latin typeface="Calibri"/>
              </a:rPr>
              <a:t/>
            </a:r>
          </a:p>
          <a:p>
            <a:pPr algn="l">
              <a:spcAft>
                <a:spcPts val="400"/>
              </a:spcAft>
            </a:pPr>
            <a:r>
              <a:rPr sz="2200" b="1">
                <a:solidFill>
                  <a:srgbClr val="E87A2E"/>
                </a:solidFill>
                <a:latin typeface="Calibri"/>
              </a:rPr>
              <a:t>Movimientos:</a:t>
            </a:r>
          </a:p>
          <a:p>
            <a:pPr algn="l">
              <a:spcAft>
                <a:spcPts val="400"/>
              </a:spcAft>
            </a:pPr>
            <a:r>
              <a:rPr sz="2000" b="0">
                <a:solidFill>
                  <a:srgbClr val="000000"/>
                </a:solidFill>
                <a:latin typeface="Calibri"/>
              </a:rPr>
              <a:t>• Flexión y extensión</a:t>
            </a:r>
          </a:p>
          <a:p>
            <a:pPr algn="l">
              <a:spcAft>
                <a:spcPts val="400"/>
              </a:spcAft>
            </a:pPr>
            <a:r>
              <a:rPr sz="2000" b="0">
                <a:solidFill>
                  <a:srgbClr val="000000"/>
                </a:solidFill>
                <a:latin typeface="Calibri"/>
              </a:rPr>
              <a:t>• Abducción y aducción</a:t>
            </a:r>
          </a:p>
          <a:p>
            <a:pPr algn="l">
              <a:spcAft>
                <a:spcPts val="400"/>
              </a:spcAft>
            </a:pPr>
            <a:r>
              <a:rPr sz="2000" b="0">
                <a:solidFill>
                  <a:srgbClr val="000000"/>
                </a:solidFill>
                <a:latin typeface="Calibri"/>
              </a:rPr>
              <a:t>• Rotación interna y externa</a:t>
            </a:r>
          </a:p>
          <a:p>
            <a:pPr algn="l">
              <a:spcAft>
                <a:spcPts val="400"/>
              </a:spcAft>
            </a:pPr>
            <a:r>
              <a:rPr sz="2000" b="0">
                <a:solidFill>
                  <a:srgbClr val="000000"/>
                </a:solidFill>
                <a:latin typeface="Calibri"/>
              </a:rPr>
              <a:t>• Circunducción</a:t>
            </a:r>
          </a:p>
          <a:p>
            <a:pPr algn="l">
              <a:spcAft>
                <a:spcPts val="400"/>
              </a:spcAft>
            </a:pPr>
            <a:r>
              <a:rPr sz="2000" b="0">
                <a:solidFill>
                  <a:srgbClr val="000000"/>
                </a:solidFill>
                <a:latin typeface="Calibri"/>
              </a:rPr>
              <a:t/>
            </a:r>
          </a:p>
          <a:p>
            <a:pPr algn="l">
              <a:spcAft>
                <a:spcPts val="400"/>
              </a:spcAft>
            </a:pPr>
            <a:r>
              <a:rPr sz="1800" b="0" i="1">
                <a:solidFill>
                  <a:srgbClr val="8B1A1A"/>
                </a:solidFill>
                <a:latin typeface="Calibri"/>
              </a:rPr>
              <a:t>En Pilates: La estabilidad y movilidad de la cadera son esenciales para el control del movimiento.</a:t>
            </a:r>
          </a:p>
        </p:txBody>
      </p:sp>
    </p:spTree>
  </p:cSld>
  <p:clrMapOvr>
    <a:masterClrMapping/>
  </p:clrMapOvr>
  <p:transition advTm="10000" spd="med"/>
</p:sld>
</file>

<file path=ppt/slides/slide13.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LA RODILLA</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5029200" cy="4572000"/>
          </a:xfrm>
          <a:prstGeom prst="rect">
            <a:avLst/>
          </a:prstGeom>
          <a:noFill/>
        </p:spPr>
        <p:txBody>
          <a:bodyPr wrap="square">
            <a:spAutoFit/>
          </a:bodyPr>
          <a:lstStyle/>
          <a:p>
            <a:pPr algn="l">
              <a:spcAft>
                <a:spcPts val="400"/>
              </a:spcAft>
            </a:pPr>
            <a:r>
              <a:rPr sz="2200" b="1">
                <a:solidFill>
                  <a:srgbClr val="E87A2E"/>
                </a:solidFill>
                <a:latin typeface="Calibri"/>
              </a:rPr>
              <a:t>Huesos:</a:t>
            </a:r>
          </a:p>
          <a:p>
            <a:pPr algn="l">
              <a:spcAft>
                <a:spcPts val="400"/>
              </a:spcAft>
            </a:pPr>
            <a:r>
              <a:rPr sz="2000" b="0">
                <a:solidFill>
                  <a:srgbClr val="000000"/>
                </a:solidFill>
                <a:latin typeface="Calibri"/>
              </a:rPr>
              <a:t>• Fémur</a:t>
            </a:r>
          </a:p>
          <a:p>
            <a:pPr algn="l">
              <a:spcAft>
                <a:spcPts val="400"/>
              </a:spcAft>
            </a:pPr>
            <a:r>
              <a:rPr sz="2000" b="0">
                <a:solidFill>
                  <a:srgbClr val="000000"/>
                </a:solidFill>
                <a:latin typeface="Calibri"/>
              </a:rPr>
              <a:t>• Rótula (patela)</a:t>
            </a:r>
          </a:p>
          <a:p>
            <a:pPr algn="l">
              <a:spcAft>
                <a:spcPts val="400"/>
              </a:spcAft>
            </a:pPr>
            <a:r>
              <a:rPr sz="2000" b="0">
                <a:solidFill>
                  <a:srgbClr val="000000"/>
                </a:solidFill>
                <a:latin typeface="Calibri"/>
              </a:rPr>
              <a:t>• Tibia</a:t>
            </a:r>
          </a:p>
          <a:p>
            <a:pPr algn="l">
              <a:spcAft>
                <a:spcPts val="400"/>
              </a:spcAft>
            </a:pPr>
            <a:r>
              <a:rPr sz="2000" b="0">
                <a:solidFill>
                  <a:srgbClr val="000000"/>
                </a:solidFill>
                <a:latin typeface="Calibri"/>
              </a:rPr>
              <a:t/>
            </a:r>
          </a:p>
          <a:p>
            <a:pPr algn="l">
              <a:spcAft>
                <a:spcPts val="400"/>
              </a:spcAft>
            </a:pPr>
            <a:r>
              <a:rPr sz="2200" b="1">
                <a:solidFill>
                  <a:srgbClr val="E87A2E"/>
                </a:solidFill>
                <a:latin typeface="Calibri"/>
              </a:rPr>
              <a:t>Cartílagos:</a:t>
            </a:r>
          </a:p>
          <a:p>
            <a:pPr algn="l">
              <a:spcAft>
                <a:spcPts val="400"/>
              </a:spcAft>
            </a:pPr>
            <a:r>
              <a:rPr sz="2000" b="0">
                <a:solidFill>
                  <a:srgbClr val="000000"/>
                </a:solidFill>
                <a:latin typeface="Calibri"/>
              </a:rPr>
              <a:t>• Cartílago hialino (articular)</a:t>
            </a:r>
          </a:p>
          <a:p>
            <a:pPr algn="l">
              <a:spcAft>
                <a:spcPts val="400"/>
              </a:spcAft>
            </a:pPr>
            <a:r>
              <a:rPr sz="2000" b="0">
                <a:solidFill>
                  <a:srgbClr val="000000"/>
                </a:solidFill>
                <a:latin typeface="Calibri"/>
              </a:rPr>
              <a:t>• Meniscos (medial y lateral)</a:t>
            </a:r>
          </a:p>
        </p:txBody>
      </p:sp>
      <p:sp>
        <p:nvSpPr>
          <p:cNvPr id="6" name="TextBox 5"/>
          <p:cNvSpPr txBox="1"/>
          <p:nvPr/>
        </p:nvSpPr>
        <p:spPr>
          <a:xfrm>
            <a:off x="6400800" y="2011680"/>
            <a:ext cx="5029200" cy="4572000"/>
          </a:xfrm>
          <a:prstGeom prst="rect">
            <a:avLst/>
          </a:prstGeom>
          <a:noFill/>
        </p:spPr>
        <p:txBody>
          <a:bodyPr wrap="square">
            <a:spAutoFit/>
          </a:bodyPr>
          <a:lstStyle/>
          <a:p>
            <a:pPr algn="l">
              <a:spcAft>
                <a:spcPts val="400"/>
              </a:spcAft>
            </a:pPr>
            <a:r>
              <a:rPr sz="2200" b="1">
                <a:solidFill>
                  <a:srgbClr val="E87A2E"/>
                </a:solidFill>
                <a:latin typeface="Calibri"/>
              </a:rPr>
              <a:t>Ligamentos:</a:t>
            </a:r>
          </a:p>
          <a:p>
            <a:pPr algn="l">
              <a:spcAft>
                <a:spcPts val="400"/>
              </a:spcAft>
            </a:pPr>
            <a:r>
              <a:rPr sz="2000" b="0">
                <a:solidFill>
                  <a:srgbClr val="000000"/>
                </a:solidFill>
                <a:latin typeface="Calibri"/>
              </a:rPr>
              <a:t>• Ligamento cruzado anterior (LCA)</a:t>
            </a:r>
          </a:p>
          <a:p>
            <a:pPr algn="l">
              <a:spcAft>
                <a:spcPts val="400"/>
              </a:spcAft>
            </a:pPr>
            <a:r>
              <a:rPr sz="2000" b="0">
                <a:solidFill>
                  <a:srgbClr val="000000"/>
                </a:solidFill>
                <a:latin typeface="Calibri"/>
              </a:rPr>
              <a:t>• Ligamento cruzado posterior (LCP)</a:t>
            </a:r>
          </a:p>
          <a:p>
            <a:pPr algn="l">
              <a:spcAft>
                <a:spcPts val="400"/>
              </a:spcAft>
            </a:pPr>
            <a:r>
              <a:rPr sz="2000" b="0">
                <a:solidFill>
                  <a:srgbClr val="000000"/>
                </a:solidFill>
                <a:latin typeface="Calibri"/>
              </a:rPr>
              <a:t>• Ligamento colateral medial (LCM)</a:t>
            </a:r>
          </a:p>
          <a:p>
            <a:pPr algn="l">
              <a:spcAft>
                <a:spcPts val="400"/>
              </a:spcAft>
            </a:pPr>
            <a:r>
              <a:rPr sz="2000" b="0">
                <a:solidFill>
                  <a:srgbClr val="000000"/>
                </a:solidFill>
                <a:latin typeface="Calibri"/>
              </a:rPr>
              <a:t>• Ligamento colateral lateral (LCL)</a:t>
            </a:r>
          </a:p>
          <a:p>
            <a:pPr algn="l">
              <a:spcAft>
                <a:spcPts val="400"/>
              </a:spcAft>
            </a:pPr>
            <a:r>
              <a:rPr sz="2000" b="0">
                <a:solidFill>
                  <a:srgbClr val="000000"/>
                </a:solidFill>
                <a:latin typeface="Calibri"/>
              </a:rPr>
              <a:t>• Ligamento rotuliano</a:t>
            </a:r>
          </a:p>
          <a:p>
            <a:pPr algn="l">
              <a:spcAft>
                <a:spcPts val="400"/>
              </a:spcAft>
            </a:pPr>
            <a:r>
              <a:rPr sz="2000" b="0">
                <a:solidFill>
                  <a:srgbClr val="000000"/>
                </a:solidFill>
                <a:latin typeface="Calibri"/>
              </a:rPr>
              <a:t/>
            </a:r>
          </a:p>
          <a:p>
            <a:pPr algn="l">
              <a:spcAft>
                <a:spcPts val="400"/>
              </a:spcAft>
            </a:pPr>
            <a:r>
              <a:rPr sz="2000" b="1">
                <a:solidFill>
                  <a:srgbClr val="8B1A1A"/>
                </a:solidFill>
                <a:latin typeface="Calibri"/>
              </a:rPr>
              <a:t>En Pilates:</a:t>
            </a:r>
          </a:p>
          <a:p>
            <a:pPr algn="l">
              <a:spcAft>
                <a:spcPts val="400"/>
              </a:spcAft>
            </a:pPr>
            <a:r>
              <a:rPr sz="2000" b="0">
                <a:solidFill>
                  <a:srgbClr val="000000"/>
                </a:solidFill>
                <a:latin typeface="Calibri"/>
              </a:rPr>
              <a:t>El alineamiento de la rodilla es fundamental para evitar lesiones. Nunca debe sobrepasar la punta de los dedos del pie.</a:t>
            </a:r>
          </a:p>
        </p:txBody>
      </p:sp>
    </p:spTree>
  </p:cSld>
  <p:clrMapOvr>
    <a:masterClrMapping/>
  </p:clrMapOvr>
  <p:transition advTm="10000" spd="med"/>
</p:sld>
</file>

<file path=ppt/slides/slide14.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TIPOS DE MÚSCULOS</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2011680"/>
            <a:ext cx="3474720" cy="91440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57400"/>
            <a:ext cx="3474720" cy="822960"/>
          </a:xfrm>
          <a:prstGeom prst="rect">
            <a:avLst/>
          </a:prstGeom>
          <a:noFill/>
        </p:spPr>
        <p:txBody>
          <a:bodyPr wrap="square" anchor="t"/>
          <a:lstStyle/>
          <a:p>
            <a:pPr algn="ctr"/>
            <a:r>
              <a:rPr sz="1800" b="1" i="0">
                <a:solidFill>
                  <a:srgbClr val="FFFFFF"/>
                </a:solidFill>
                <a:latin typeface="Calibri"/>
              </a:rPr>
              <a:t>Músculos Esqueléticos
(Estriados)</a:t>
            </a:r>
          </a:p>
        </p:txBody>
      </p:sp>
      <p:sp>
        <p:nvSpPr>
          <p:cNvPr id="7" name="TextBox 6"/>
          <p:cNvSpPr txBox="1"/>
          <p:nvPr/>
        </p:nvSpPr>
        <p:spPr>
          <a:xfrm>
            <a:off x="731520" y="3200400"/>
            <a:ext cx="3108960" cy="365760"/>
          </a:xfrm>
          <a:prstGeom prst="rect">
            <a:avLst/>
          </a:prstGeom>
          <a:noFill/>
        </p:spPr>
        <p:txBody>
          <a:bodyPr wrap="square" anchor="t"/>
          <a:lstStyle/>
          <a:p>
            <a:pPr algn="l"/>
            <a:r>
              <a:rPr sz="1600" b="0" i="0">
                <a:solidFill>
                  <a:srgbClr val="000000"/>
                </a:solidFill>
                <a:latin typeface="Calibri"/>
              </a:rPr>
              <a:t>• Voluntarios</a:t>
            </a:r>
          </a:p>
        </p:txBody>
      </p:sp>
      <p:sp>
        <p:nvSpPr>
          <p:cNvPr id="8" name="TextBox 7"/>
          <p:cNvSpPr txBox="1"/>
          <p:nvPr/>
        </p:nvSpPr>
        <p:spPr>
          <a:xfrm>
            <a:off x="731520" y="3584448"/>
            <a:ext cx="3108960" cy="365760"/>
          </a:xfrm>
          <a:prstGeom prst="rect">
            <a:avLst/>
          </a:prstGeom>
          <a:noFill/>
        </p:spPr>
        <p:txBody>
          <a:bodyPr wrap="square" anchor="t"/>
          <a:lstStyle/>
          <a:p>
            <a:pPr algn="l"/>
            <a:r>
              <a:rPr sz="1600" b="0" i="0">
                <a:solidFill>
                  <a:srgbClr val="000000"/>
                </a:solidFill>
                <a:latin typeface="Calibri"/>
              </a:rPr>
              <a:t>• Se adhieren a los huesos</a:t>
            </a:r>
          </a:p>
        </p:txBody>
      </p:sp>
      <p:sp>
        <p:nvSpPr>
          <p:cNvPr id="9" name="TextBox 8"/>
          <p:cNvSpPr txBox="1"/>
          <p:nvPr/>
        </p:nvSpPr>
        <p:spPr>
          <a:xfrm>
            <a:off x="731520" y="3968496"/>
            <a:ext cx="3108960" cy="365760"/>
          </a:xfrm>
          <a:prstGeom prst="rect">
            <a:avLst/>
          </a:prstGeom>
          <a:noFill/>
        </p:spPr>
        <p:txBody>
          <a:bodyPr wrap="square" anchor="t"/>
          <a:lstStyle/>
          <a:p>
            <a:pPr algn="l"/>
            <a:r>
              <a:rPr sz="1600" b="0" i="0">
                <a:solidFill>
                  <a:srgbClr val="000000"/>
                </a:solidFill>
                <a:latin typeface="Calibri"/>
              </a:rPr>
              <a:t>• Producen movimiento</a:t>
            </a:r>
          </a:p>
        </p:txBody>
      </p:sp>
      <p:sp>
        <p:nvSpPr>
          <p:cNvPr id="10" name="TextBox 9"/>
          <p:cNvSpPr txBox="1"/>
          <p:nvPr/>
        </p:nvSpPr>
        <p:spPr>
          <a:xfrm>
            <a:off x="731520" y="4352544"/>
            <a:ext cx="3108960" cy="365760"/>
          </a:xfrm>
          <a:prstGeom prst="rect">
            <a:avLst/>
          </a:prstGeom>
          <a:noFill/>
        </p:spPr>
        <p:txBody>
          <a:bodyPr wrap="square" anchor="t"/>
          <a:lstStyle/>
          <a:p>
            <a:pPr algn="l"/>
            <a:r>
              <a:rPr sz="1600" b="0" i="0">
                <a:solidFill>
                  <a:srgbClr val="000000"/>
                </a:solidFill>
                <a:latin typeface="Calibri"/>
              </a:rPr>
              <a:t>• Se contraen rápidamente</a:t>
            </a:r>
          </a:p>
        </p:txBody>
      </p:sp>
      <p:sp>
        <p:nvSpPr>
          <p:cNvPr id="11" name="TextBox 10"/>
          <p:cNvSpPr txBox="1"/>
          <p:nvPr/>
        </p:nvSpPr>
        <p:spPr>
          <a:xfrm>
            <a:off x="731520" y="4736592"/>
            <a:ext cx="3108960" cy="365760"/>
          </a:xfrm>
          <a:prstGeom prst="rect">
            <a:avLst/>
          </a:prstGeom>
          <a:noFill/>
        </p:spPr>
        <p:txBody>
          <a:bodyPr wrap="square" anchor="t"/>
          <a:lstStyle/>
          <a:p>
            <a:pPr algn="l"/>
            <a:r>
              <a:rPr sz="1600" b="0" i="0">
                <a:solidFill>
                  <a:srgbClr val="000000"/>
                </a:solidFill>
                <a:latin typeface="Calibri"/>
              </a:rPr>
              <a:t>• Se fatigan con facilidad</a:t>
            </a:r>
          </a:p>
        </p:txBody>
      </p:sp>
      <p:sp>
        <p:nvSpPr>
          <p:cNvPr id="12" name="TextBox 11"/>
          <p:cNvSpPr txBox="1"/>
          <p:nvPr/>
        </p:nvSpPr>
        <p:spPr>
          <a:xfrm>
            <a:off x="731520" y="5120640"/>
            <a:ext cx="3108960" cy="365760"/>
          </a:xfrm>
          <a:prstGeom prst="rect">
            <a:avLst/>
          </a:prstGeom>
          <a:noFill/>
        </p:spPr>
        <p:txBody>
          <a:bodyPr wrap="square" anchor="t"/>
          <a:lstStyle/>
          <a:p>
            <a:pPr algn="l"/>
            <a:r>
              <a:rPr sz="1600" b="0" i="0">
                <a:solidFill>
                  <a:srgbClr val="000000"/>
                </a:solidFill>
                <a:latin typeface="Calibri"/>
              </a:rPr>
              <a:t>• Representan el 40% del peso corporal</a:t>
            </a:r>
          </a:p>
        </p:txBody>
      </p:sp>
      <p:sp>
        <p:nvSpPr>
          <p:cNvPr id="13" name="Rectangle 12"/>
          <p:cNvSpPr/>
          <p:nvPr/>
        </p:nvSpPr>
        <p:spPr>
          <a:xfrm>
            <a:off x="4389120" y="2011680"/>
            <a:ext cx="3474720" cy="91440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2057400"/>
            <a:ext cx="3474720" cy="822960"/>
          </a:xfrm>
          <a:prstGeom prst="rect">
            <a:avLst/>
          </a:prstGeom>
          <a:noFill/>
        </p:spPr>
        <p:txBody>
          <a:bodyPr wrap="square" anchor="t"/>
          <a:lstStyle/>
          <a:p>
            <a:pPr algn="ctr"/>
            <a:r>
              <a:rPr sz="1800" b="1" i="0">
                <a:solidFill>
                  <a:srgbClr val="FFFFFF"/>
                </a:solidFill>
                <a:latin typeface="Calibri"/>
              </a:rPr>
              <a:t>Músculos Lisos
(Involuntarios)</a:t>
            </a:r>
          </a:p>
        </p:txBody>
      </p:sp>
      <p:sp>
        <p:nvSpPr>
          <p:cNvPr id="15" name="TextBox 14"/>
          <p:cNvSpPr txBox="1"/>
          <p:nvPr/>
        </p:nvSpPr>
        <p:spPr>
          <a:xfrm>
            <a:off x="4572000" y="3200400"/>
            <a:ext cx="3108960" cy="365760"/>
          </a:xfrm>
          <a:prstGeom prst="rect">
            <a:avLst/>
          </a:prstGeom>
          <a:noFill/>
        </p:spPr>
        <p:txBody>
          <a:bodyPr wrap="square" anchor="t"/>
          <a:lstStyle/>
          <a:p>
            <a:pPr algn="l"/>
            <a:r>
              <a:rPr sz="1600" b="0" i="0">
                <a:solidFill>
                  <a:srgbClr val="000000"/>
                </a:solidFill>
                <a:latin typeface="Calibri"/>
              </a:rPr>
              <a:t>• Involuntarios</a:t>
            </a:r>
          </a:p>
        </p:txBody>
      </p:sp>
      <p:sp>
        <p:nvSpPr>
          <p:cNvPr id="16" name="TextBox 15"/>
          <p:cNvSpPr txBox="1"/>
          <p:nvPr/>
        </p:nvSpPr>
        <p:spPr>
          <a:xfrm>
            <a:off x="4572000" y="3584448"/>
            <a:ext cx="3108960" cy="365760"/>
          </a:xfrm>
          <a:prstGeom prst="rect">
            <a:avLst/>
          </a:prstGeom>
          <a:noFill/>
        </p:spPr>
        <p:txBody>
          <a:bodyPr wrap="square" anchor="t"/>
          <a:lstStyle/>
          <a:p>
            <a:pPr algn="l"/>
            <a:r>
              <a:rPr sz="1600" b="0" i="0">
                <a:solidFill>
                  <a:srgbClr val="000000"/>
                </a:solidFill>
                <a:latin typeface="Calibri"/>
              </a:rPr>
              <a:t>• En paredes de órganos huecos</a:t>
            </a:r>
          </a:p>
        </p:txBody>
      </p:sp>
      <p:sp>
        <p:nvSpPr>
          <p:cNvPr id="17" name="TextBox 16"/>
          <p:cNvSpPr txBox="1"/>
          <p:nvPr/>
        </p:nvSpPr>
        <p:spPr>
          <a:xfrm>
            <a:off x="4572000" y="3968496"/>
            <a:ext cx="3108960" cy="365760"/>
          </a:xfrm>
          <a:prstGeom prst="rect">
            <a:avLst/>
          </a:prstGeom>
          <a:noFill/>
        </p:spPr>
        <p:txBody>
          <a:bodyPr wrap="square" anchor="t"/>
          <a:lstStyle/>
          <a:p>
            <a:pPr algn="l"/>
            <a:r>
              <a:rPr sz="1600" b="0" i="0">
                <a:solidFill>
                  <a:srgbClr val="000000"/>
                </a:solidFill>
                <a:latin typeface="Calibri"/>
              </a:rPr>
              <a:t>• Controlan funciones internas</a:t>
            </a:r>
          </a:p>
        </p:txBody>
      </p:sp>
      <p:sp>
        <p:nvSpPr>
          <p:cNvPr id="18" name="TextBox 17"/>
          <p:cNvSpPr txBox="1"/>
          <p:nvPr/>
        </p:nvSpPr>
        <p:spPr>
          <a:xfrm>
            <a:off x="4572000" y="4352544"/>
            <a:ext cx="3108960" cy="365760"/>
          </a:xfrm>
          <a:prstGeom prst="rect">
            <a:avLst/>
          </a:prstGeom>
          <a:noFill/>
        </p:spPr>
        <p:txBody>
          <a:bodyPr wrap="square" anchor="t"/>
          <a:lstStyle/>
          <a:p>
            <a:pPr algn="l"/>
            <a:r>
              <a:rPr sz="1600" b="0" i="0">
                <a:solidFill>
                  <a:srgbClr val="000000"/>
                </a:solidFill>
                <a:latin typeface="Calibri"/>
              </a:rPr>
              <a:t>• Contracción lenta y sostenida</a:t>
            </a:r>
          </a:p>
        </p:txBody>
      </p:sp>
      <p:sp>
        <p:nvSpPr>
          <p:cNvPr id="19" name="TextBox 18"/>
          <p:cNvSpPr txBox="1"/>
          <p:nvPr/>
        </p:nvSpPr>
        <p:spPr>
          <a:xfrm>
            <a:off x="4572000" y="4736592"/>
            <a:ext cx="3108960" cy="365760"/>
          </a:xfrm>
          <a:prstGeom prst="rect">
            <a:avLst/>
          </a:prstGeom>
          <a:noFill/>
        </p:spPr>
        <p:txBody>
          <a:bodyPr wrap="square" anchor="t"/>
          <a:lstStyle/>
          <a:p>
            <a:pPr algn="l"/>
            <a:r>
              <a:rPr sz="1600" b="0" i="0">
                <a:solidFill>
                  <a:srgbClr val="000000"/>
                </a:solidFill>
                <a:latin typeface="Calibri"/>
              </a:rPr>
              <a:t>• Tubo digestivo, vasos sanguíneos, vejiga</a:t>
            </a:r>
          </a:p>
        </p:txBody>
      </p:sp>
      <p:sp>
        <p:nvSpPr>
          <p:cNvPr id="20" name="Rectangle 19"/>
          <p:cNvSpPr/>
          <p:nvPr/>
        </p:nvSpPr>
        <p:spPr>
          <a:xfrm>
            <a:off x="8229600" y="2011680"/>
            <a:ext cx="3474720" cy="91440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2057400"/>
            <a:ext cx="3474720" cy="822960"/>
          </a:xfrm>
          <a:prstGeom prst="rect">
            <a:avLst/>
          </a:prstGeom>
          <a:noFill/>
        </p:spPr>
        <p:txBody>
          <a:bodyPr wrap="square" anchor="t"/>
          <a:lstStyle/>
          <a:p>
            <a:pPr algn="ctr"/>
            <a:r>
              <a:rPr sz="1800" b="1" i="0">
                <a:solidFill>
                  <a:srgbClr val="FFFFFF"/>
                </a:solidFill>
                <a:latin typeface="Calibri"/>
              </a:rPr>
              <a:t>Músculo Cardíaco</a:t>
            </a:r>
          </a:p>
        </p:txBody>
      </p:sp>
      <p:sp>
        <p:nvSpPr>
          <p:cNvPr id="22" name="TextBox 21"/>
          <p:cNvSpPr txBox="1"/>
          <p:nvPr/>
        </p:nvSpPr>
        <p:spPr>
          <a:xfrm>
            <a:off x="8412480" y="3200400"/>
            <a:ext cx="3108960" cy="365760"/>
          </a:xfrm>
          <a:prstGeom prst="rect">
            <a:avLst/>
          </a:prstGeom>
          <a:noFill/>
        </p:spPr>
        <p:txBody>
          <a:bodyPr wrap="square" anchor="t"/>
          <a:lstStyle/>
          <a:p>
            <a:pPr algn="l"/>
            <a:r>
              <a:rPr sz="1600" b="0" i="0">
                <a:solidFill>
                  <a:srgbClr val="000000"/>
                </a:solidFill>
                <a:latin typeface="Calibri"/>
              </a:rPr>
              <a:t>• Involuntario</a:t>
            </a:r>
          </a:p>
        </p:txBody>
      </p:sp>
      <p:sp>
        <p:nvSpPr>
          <p:cNvPr id="23" name="TextBox 22"/>
          <p:cNvSpPr txBox="1"/>
          <p:nvPr/>
        </p:nvSpPr>
        <p:spPr>
          <a:xfrm>
            <a:off x="8412480" y="3584448"/>
            <a:ext cx="3108960" cy="365760"/>
          </a:xfrm>
          <a:prstGeom prst="rect">
            <a:avLst/>
          </a:prstGeom>
          <a:noFill/>
        </p:spPr>
        <p:txBody>
          <a:bodyPr wrap="square" anchor="t"/>
          <a:lstStyle/>
          <a:p>
            <a:pPr algn="l"/>
            <a:r>
              <a:rPr sz="1600" b="0" i="0">
                <a:solidFill>
                  <a:srgbClr val="000000"/>
                </a:solidFill>
                <a:latin typeface="Calibri"/>
              </a:rPr>
              <a:t>• Solo en el corazón</a:t>
            </a:r>
          </a:p>
        </p:txBody>
      </p:sp>
      <p:sp>
        <p:nvSpPr>
          <p:cNvPr id="24" name="TextBox 23"/>
          <p:cNvSpPr txBox="1"/>
          <p:nvPr/>
        </p:nvSpPr>
        <p:spPr>
          <a:xfrm>
            <a:off x="8412480" y="3968496"/>
            <a:ext cx="3108960" cy="365760"/>
          </a:xfrm>
          <a:prstGeom prst="rect">
            <a:avLst/>
          </a:prstGeom>
          <a:noFill/>
        </p:spPr>
        <p:txBody>
          <a:bodyPr wrap="square" anchor="t"/>
          <a:lstStyle/>
          <a:p>
            <a:pPr algn="l"/>
            <a:r>
              <a:rPr sz="1600" b="0" i="0">
                <a:solidFill>
                  <a:srgbClr val="000000"/>
                </a:solidFill>
                <a:latin typeface="Calibri"/>
              </a:rPr>
              <a:t>• Contracción rítmica</a:t>
            </a:r>
          </a:p>
        </p:txBody>
      </p:sp>
      <p:sp>
        <p:nvSpPr>
          <p:cNvPr id="25" name="TextBox 24"/>
          <p:cNvSpPr txBox="1"/>
          <p:nvPr/>
        </p:nvSpPr>
        <p:spPr>
          <a:xfrm>
            <a:off x="8412480" y="4352544"/>
            <a:ext cx="3108960" cy="365760"/>
          </a:xfrm>
          <a:prstGeom prst="rect">
            <a:avLst/>
          </a:prstGeom>
          <a:noFill/>
        </p:spPr>
        <p:txBody>
          <a:bodyPr wrap="square" anchor="t"/>
          <a:lstStyle/>
          <a:p>
            <a:pPr algn="l"/>
            <a:r>
              <a:rPr sz="1600" b="0" i="0">
                <a:solidFill>
                  <a:srgbClr val="000000"/>
                </a:solidFill>
                <a:latin typeface="Calibri"/>
              </a:rPr>
              <a:t>• No se fatiga</a:t>
            </a:r>
          </a:p>
        </p:txBody>
      </p:sp>
      <p:sp>
        <p:nvSpPr>
          <p:cNvPr id="26" name="TextBox 25"/>
          <p:cNvSpPr txBox="1"/>
          <p:nvPr/>
        </p:nvSpPr>
        <p:spPr>
          <a:xfrm>
            <a:off x="8412480" y="4736592"/>
            <a:ext cx="3108960" cy="365760"/>
          </a:xfrm>
          <a:prstGeom prst="rect">
            <a:avLst/>
          </a:prstGeom>
          <a:noFill/>
        </p:spPr>
        <p:txBody>
          <a:bodyPr wrap="square" anchor="t"/>
          <a:lstStyle/>
          <a:p>
            <a:pPr algn="l"/>
            <a:r>
              <a:rPr sz="1600" b="0" i="0">
                <a:solidFill>
                  <a:srgbClr val="000000"/>
                </a:solidFill>
                <a:latin typeface="Calibri"/>
              </a:rPr>
              <a:t>• Altamente vascularizado</a:t>
            </a:r>
          </a:p>
        </p:txBody>
      </p:sp>
      <p:sp>
        <p:nvSpPr>
          <p:cNvPr id="27" name="TextBox 26"/>
          <p:cNvSpPr txBox="1"/>
          <p:nvPr/>
        </p:nvSpPr>
        <p:spPr>
          <a:xfrm>
            <a:off x="8412480" y="5120640"/>
            <a:ext cx="3108960" cy="365760"/>
          </a:xfrm>
          <a:prstGeom prst="rect">
            <a:avLst/>
          </a:prstGeom>
          <a:noFill/>
        </p:spPr>
        <p:txBody>
          <a:bodyPr wrap="square" anchor="t"/>
          <a:lstStyle/>
          <a:p>
            <a:pPr algn="l"/>
            <a:r>
              <a:rPr sz="1600" b="0" i="0">
                <a:solidFill>
                  <a:srgbClr val="000000"/>
                </a:solidFill>
                <a:latin typeface="Calibri"/>
              </a:rPr>
              <a:t>• Estriado pero involuntario</a:t>
            </a:r>
          </a:p>
        </p:txBody>
      </p:sp>
    </p:spTree>
  </p:cSld>
  <p:clrMapOvr>
    <a:masterClrMapping/>
  </p:clrMapOvr>
  <p:transition advTm="10000" spd="med"/>
</p:sld>
</file>

<file path=ppt/slides/slide15.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TIPOS DE CONTRACCIONES</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0"/>
            <a:ext cx="5029200" cy="1097280"/>
          </a:xfrm>
          <a:prstGeom prst="rect">
            <a:avLst/>
          </a:prstGeom>
          <a:noFill/>
        </p:spPr>
        <p:txBody>
          <a:bodyPr wrap="square">
            <a:spAutoFit/>
          </a:bodyPr>
          <a:lstStyle/>
          <a:p>
            <a:pPr algn="l">
              <a:spcAft>
                <a:spcPts val="400"/>
              </a:spcAft>
            </a:pPr>
            <a:r>
              <a:rPr sz="2200" b="1">
                <a:solidFill>
                  <a:srgbClr val="8B1A1A"/>
                </a:solidFill>
                <a:latin typeface="Calibri"/>
              </a:rPr>
              <a:t>Tipos principales:</a:t>
            </a:r>
          </a:p>
          <a:p>
            <a:pPr algn="l">
              <a:spcAft>
                <a:spcPts val="400"/>
              </a:spcAft>
            </a:pPr>
            <a:r>
              <a:rPr sz="1800" b="0">
                <a:solidFill>
                  <a:srgbClr val="000000"/>
                </a:solidFill>
                <a:latin typeface="Calibri"/>
              </a:rPr>
              <a:t/>
            </a:r>
          </a:p>
          <a:p>
            <a:pPr algn="l">
              <a:spcAft>
                <a:spcPts val="400"/>
              </a:spcAft>
            </a:pPr>
            <a:r>
              <a:rPr sz="1800" b="0">
                <a:solidFill>
                  <a:srgbClr val="000000"/>
                </a:solidFill>
                <a:latin typeface="Calibri"/>
              </a:rPr>
              <a:t>• Contracciones Heterométricas Concéntricas</a:t>
            </a:r>
          </a:p>
          <a:p>
            <a:pPr algn="l">
              <a:spcAft>
                <a:spcPts val="400"/>
              </a:spcAft>
            </a:pPr>
            <a:r>
              <a:rPr sz="1800" b="0">
                <a:solidFill>
                  <a:srgbClr val="000000"/>
                </a:solidFill>
                <a:latin typeface="Calibri"/>
              </a:rPr>
              <a:t>• Contracciones Heterométricas Excéntricas</a:t>
            </a:r>
          </a:p>
          <a:p>
            <a:pPr algn="l">
              <a:spcAft>
                <a:spcPts val="400"/>
              </a:spcAft>
            </a:pPr>
            <a:r>
              <a:rPr sz="1800" b="0">
                <a:solidFill>
                  <a:srgbClr val="000000"/>
                </a:solidFill>
                <a:latin typeface="Calibri"/>
              </a:rPr>
              <a:t>• Contracciones Isométricas</a:t>
            </a:r>
          </a:p>
          <a:p>
            <a:pPr algn="l">
              <a:spcAft>
                <a:spcPts val="400"/>
              </a:spcAft>
            </a:pPr>
            <a:r>
              <a:rPr sz="1800" b="0">
                <a:solidFill>
                  <a:srgbClr val="000000"/>
                </a:solidFill>
                <a:latin typeface="Calibri"/>
              </a:rPr>
              <a:t>• Contracciones Auxotónicas</a:t>
            </a:r>
          </a:p>
        </p:txBody>
      </p:sp>
      <p:sp>
        <p:nvSpPr>
          <p:cNvPr id="6" name="Rectangle 5"/>
          <p:cNvSpPr/>
          <p:nvPr/>
        </p:nvSpPr>
        <p:spPr>
          <a:xfrm>
            <a:off x="914400" y="3840480"/>
            <a:ext cx="3200400" cy="4572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840480"/>
            <a:ext cx="3200400" cy="457200"/>
          </a:xfrm>
          <a:prstGeom prst="rect">
            <a:avLst/>
          </a:prstGeom>
          <a:noFill/>
        </p:spPr>
        <p:txBody>
          <a:bodyPr wrap="square" anchor="t"/>
          <a:lstStyle/>
          <a:p>
            <a:pPr algn="ctr"/>
            <a:r>
              <a:rPr sz="1800" b="1" i="0">
                <a:solidFill>
                  <a:srgbClr val="FFFFFF"/>
                </a:solidFill>
                <a:latin typeface="Calibri"/>
              </a:rPr>
              <a:t>Contracción Isométrica</a:t>
            </a:r>
          </a:p>
        </p:txBody>
      </p:sp>
      <p:sp>
        <p:nvSpPr>
          <p:cNvPr id="8" name="TextBox 7"/>
          <p:cNvSpPr txBox="1"/>
          <p:nvPr/>
        </p:nvSpPr>
        <p:spPr>
          <a:xfrm>
            <a:off x="4572000" y="3840480"/>
            <a:ext cx="6400800" cy="457200"/>
          </a:xfrm>
          <a:prstGeom prst="rect">
            <a:avLst/>
          </a:prstGeom>
          <a:noFill/>
        </p:spPr>
        <p:txBody>
          <a:bodyPr wrap="square" anchor="t"/>
          <a:lstStyle/>
          <a:p>
            <a:pPr algn="l"/>
            <a:r>
              <a:rPr sz="1600" b="0" i="0">
                <a:solidFill>
                  <a:srgbClr val="000000"/>
                </a:solidFill>
                <a:latin typeface="Calibri"/>
              </a:rPr>
              <a:t>Contracción muscular sin movimiento — El músculo genera tensión sin cambiar su longitud</a:t>
            </a:r>
          </a:p>
        </p:txBody>
      </p:sp>
      <p:sp>
        <p:nvSpPr>
          <p:cNvPr id="9" name="Rectangle 8"/>
          <p:cNvSpPr/>
          <p:nvPr/>
        </p:nvSpPr>
        <p:spPr>
          <a:xfrm>
            <a:off x="914400" y="4754880"/>
            <a:ext cx="3200400" cy="4572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754880"/>
            <a:ext cx="3200400" cy="457200"/>
          </a:xfrm>
          <a:prstGeom prst="rect">
            <a:avLst/>
          </a:prstGeom>
          <a:noFill/>
        </p:spPr>
        <p:txBody>
          <a:bodyPr wrap="square" anchor="t"/>
          <a:lstStyle/>
          <a:p>
            <a:pPr algn="ctr"/>
            <a:r>
              <a:rPr sz="1800" b="1" i="0">
                <a:solidFill>
                  <a:srgbClr val="FFFFFF"/>
                </a:solidFill>
                <a:latin typeface="Calibri"/>
              </a:rPr>
              <a:t>Contracción Concéntrica</a:t>
            </a:r>
          </a:p>
        </p:txBody>
      </p:sp>
      <p:sp>
        <p:nvSpPr>
          <p:cNvPr id="11" name="TextBox 10"/>
          <p:cNvSpPr txBox="1"/>
          <p:nvPr/>
        </p:nvSpPr>
        <p:spPr>
          <a:xfrm>
            <a:off x="4572000" y="4754880"/>
            <a:ext cx="6400800" cy="457200"/>
          </a:xfrm>
          <a:prstGeom prst="rect">
            <a:avLst/>
          </a:prstGeom>
          <a:noFill/>
        </p:spPr>
        <p:txBody>
          <a:bodyPr wrap="square" anchor="t"/>
          <a:lstStyle/>
          <a:p>
            <a:pPr algn="l"/>
            <a:r>
              <a:rPr sz="1600" b="0" i="0">
                <a:solidFill>
                  <a:srgbClr val="000000"/>
                </a:solidFill>
                <a:latin typeface="Calibri"/>
              </a:rPr>
              <a:t>El músculo se acorta — El músculo se acorta mientras genera fuerza (ej: subir una pesa)</a:t>
            </a:r>
          </a:p>
        </p:txBody>
      </p:sp>
      <p:sp>
        <p:nvSpPr>
          <p:cNvPr id="12" name="Rectangle 11"/>
          <p:cNvSpPr/>
          <p:nvPr/>
        </p:nvSpPr>
        <p:spPr>
          <a:xfrm>
            <a:off x="914400" y="5669280"/>
            <a:ext cx="3200400" cy="4572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669280"/>
            <a:ext cx="3200400" cy="457200"/>
          </a:xfrm>
          <a:prstGeom prst="rect">
            <a:avLst/>
          </a:prstGeom>
          <a:noFill/>
        </p:spPr>
        <p:txBody>
          <a:bodyPr wrap="square" anchor="t"/>
          <a:lstStyle/>
          <a:p>
            <a:pPr algn="ctr"/>
            <a:r>
              <a:rPr sz="1800" b="1" i="0">
                <a:solidFill>
                  <a:srgbClr val="FFFFFF"/>
                </a:solidFill>
                <a:latin typeface="Calibri"/>
              </a:rPr>
              <a:t>Contracción Excéntrica</a:t>
            </a:r>
          </a:p>
        </p:txBody>
      </p:sp>
      <p:sp>
        <p:nvSpPr>
          <p:cNvPr id="14" name="TextBox 13"/>
          <p:cNvSpPr txBox="1"/>
          <p:nvPr/>
        </p:nvSpPr>
        <p:spPr>
          <a:xfrm>
            <a:off x="4572000" y="5669280"/>
            <a:ext cx="6400800" cy="457200"/>
          </a:xfrm>
          <a:prstGeom prst="rect">
            <a:avLst/>
          </a:prstGeom>
          <a:noFill/>
        </p:spPr>
        <p:txBody>
          <a:bodyPr wrap="square" anchor="t"/>
          <a:lstStyle/>
          <a:p>
            <a:pPr algn="l"/>
            <a:r>
              <a:rPr sz="1600" b="0" i="0">
                <a:solidFill>
                  <a:srgbClr val="000000"/>
                </a:solidFill>
                <a:latin typeface="Calibri"/>
              </a:rPr>
              <a:t>El músculo se alarga — El músculo se alarga mientras genera fuerza (ej: bajar una pesa controladamente)</a:t>
            </a:r>
          </a:p>
        </p:txBody>
      </p:sp>
    </p:spTree>
  </p:cSld>
  <p:clrMapOvr>
    <a:masterClrMapping/>
  </p:clrMapOvr>
  <p:transition advTm="10000" spd="med"/>
</p:sld>
</file>

<file path=ppt/slides/slide16.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EL POWER HOUSE</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5029200" cy="4114800"/>
          </a:xfrm>
          <a:prstGeom prst="rect">
            <a:avLst/>
          </a:prstGeom>
          <a:noFill/>
        </p:spPr>
        <p:txBody>
          <a:bodyPr wrap="square">
            <a:spAutoFit/>
          </a:bodyPr>
          <a:lstStyle/>
          <a:p>
            <a:pPr algn="l">
              <a:spcAft>
                <a:spcPts val="400"/>
              </a:spcAft>
            </a:pPr>
            <a:r>
              <a:rPr sz="2200" b="1">
                <a:solidFill>
                  <a:srgbClr val="E87A2E"/>
                </a:solidFill>
                <a:latin typeface="Calibri"/>
              </a:rPr>
              <a:t>Músculos anteriores:</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 Oblicuo externo</a:t>
            </a:r>
          </a:p>
          <a:p>
            <a:pPr algn="l">
              <a:spcAft>
                <a:spcPts val="400"/>
              </a:spcAft>
            </a:pPr>
            <a:r>
              <a:rPr sz="2000" b="0">
                <a:solidFill>
                  <a:srgbClr val="000000"/>
                </a:solidFill>
                <a:latin typeface="Calibri"/>
              </a:rPr>
              <a:t>• Oblicuo interno</a:t>
            </a:r>
          </a:p>
          <a:p>
            <a:pPr algn="l">
              <a:spcAft>
                <a:spcPts val="400"/>
              </a:spcAft>
            </a:pPr>
            <a:r>
              <a:rPr sz="2000" b="0">
                <a:solidFill>
                  <a:srgbClr val="000000"/>
                </a:solidFill>
                <a:latin typeface="Calibri"/>
              </a:rPr>
              <a:t>• Transverso del abdomen</a:t>
            </a:r>
          </a:p>
          <a:p>
            <a:pPr algn="l">
              <a:spcAft>
                <a:spcPts val="400"/>
              </a:spcAft>
            </a:pPr>
            <a:r>
              <a:rPr sz="2000" b="0">
                <a:solidFill>
                  <a:srgbClr val="000000"/>
                </a:solidFill>
                <a:latin typeface="Calibri"/>
              </a:rPr>
              <a:t>• Recto abdominal</a:t>
            </a:r>
          </a:p>
        </p:txBody>
      </p:sp>
      <p:sp>
        <p:nvSpPr>
          <p:cNvPr id="6" name="TextBox 5"/>
          <p:cNvSpPr txBox="1"/>
          <p:nvPr/>
        </p:nvSpPr>
        <p:spPr>
          <a:xfrm>
            <a:off x="6400800" y="2011680"/>
            <a:ext cx="5029200" cy="4114800"/>
          </a:xfrm>
          <a:prstGeom prst="rect">
            <a:avLst/>
          </a:prstGeom>
          <a:noFill/>
        </p:spPr>
        <p:txBody>
          <a:bodyPr wrap="square">
            <a:spAutoFit/>
          </a:bodyPr>
          <a:lstStyle/>
          <a:p>
            <a:pPr algn="l">
              <a:spcAft>
                <a:spcPts val="400"/>
              </a:spcAft>
            </a:pPr>
            <a:r>
              <a:rPr sz="2200" b="1">
                <a:solidFill>
                  <a:srgbClr val="E87A2E"/>
                </a:solidFill>
                <a:latin typeface="Calibri"/>
              </a:rPr>
              <a:t>Músculos posteriores y profundos:</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 Erector de la espina: Espinal, Longísimo, Iliocostal</a:t>
            </a:r>
          </a:p>
          <a:p>
            <a:pPr algn="l">
              <a:spcAft>
                <a:spcPts val="400"/>
              </a:spcAft>
            </a:pPr>
            <a:r>
              <a:rPr sz="2000" b="0">
                <a:solidFill>
                  <a:srgbClr val="000000"/>
                </a:solidFill>
                <a:latin typeface="Calibri"/>
              </a:rPr>
              <a:t>• Multífido</a:t>
            </a:r>
          </a:p>
          <a:p>
            <a:pPr algn="l">
              <a:spcAft>
                <a:spcPts val="400"/>
              </a:spcAft>
            </a:pPr>
            <a:r>
              <a:rPr sz="2000" b="0">
                <a:solidFill>
                  <a:srgbClr val="000000"/>
                </a:solidFill>
                <a:latin typeface="Calibri"/>
              </a:rPr>
              <a:t>• Cuadrado lumbar</a:t>
            </a:r>
          </a:p>
          <a:p>
            <a:pPr algn="l">
              <a:spcAft>
                <a:spcPts val="400"/>
              </a:spcAft>
            </a:pPr>
            <a:r>
              <a:rPr sz="2000" b="0">
                <a:solidFill>
                  <a:srgbClr val="000000"/>
                </a:solidFill>
                <a:latin typeface="Calibri"/>
              </a:rPr>
              <a:t>• Glúteo mayor, medio y menor</a:t>
            </a:r>
          </a:p>
          <a:p>
            <a:pPr algn="l">
              <a:spcAft>
                <a:spcPts val="400"/>
              </a:spcAft>
            </a:pPr>
            <a:r>
              <a:rPr sz="2000" b="0">
                <a:solidFill>
                  <a:srgbClr val="000000"/>
                </a:solidFill>
                <a:latin typeface="Calibri"/>
              </a:rPr>
              <a:t/>
            </a:r>
          </a:p>
          <a:p>
            <a:pPr algn="l">
              <a:spcAft>
                <a:spcPts val="400"/>
              </a:spcAft>
            </a:pPr>
            <a:r>
              <a:rPr sz="2200" b="1">
                <a:solidFill>
                  <a:srgbClr val="E87A2E"/>
                </a:solidFill>
                <a:latin typeface="Calibri"/>
              </a:rPr>
              <a:t>Iliopsoas:</a:t>
            </a:r>
          </a:p>
          <a:p>
            <a:pPr algn="l">
              <a:spcAft>
                <a:spcPts val="400"/>
              </a:spcAft>
            </a:pPr>
            <a:r>
              <a:rPr sz="2000" b="0">
                <a:solidFill>
                  <a:srgbClr val="000000"/>
                </a:solidFill>
                <a:latin typeface="Calibri"/>
              </a:rPr>
              <a:t>• Psoas mayor</a:t>
            </a:r>
          </a:p>
          <a:p>
            <a:pPr algn="l">
              <a:spcAft>
                <a:spcPts val="400"/>
              </a:spcAft>
            </a:pPr>
            <a:r>
              <a:rPr sz="2000" b="0">
                <a:solidFill>
                  <a:srgbClr val="000000"/>
                </a:solidFill>
                <a:latin typeface="Calibri"/>
              </a:rPr>
              <a:t>• Psoas menor</a:t>
            </a:r>
          </a:p>
          <a:p>
            <a:pPr algn="l">
              <a:spcAft>
                <a:spcPts val="400"/>
              </a:spcAft>
            </a:pPr>
            <a:r>
              <a:rPr sz="2000" b="0">
                <a:solidFill>
                  <a:srgbClr val="000000"/>
                </a:solidFill>
                <a:latin typeface="Calibri"/>
              </a:rPr>
              <a:t>• Ilíaca</a:t>
            </a:r>
          </a:p>
        </p:txBody>
      </p:sp>
      <p:sp>
        <p:nvSpPr>
          <p:cNvPr id="7" name="TextBox 6"/>
          <p:cNvSpPr txBox="1"/>
          <p:nvPr/>
        </p:nvSpPr>
        <p:spPr>
          <a:xfrm>
            <a:off x="914400" y="5486400"/>
            <a:ext cx="10058400" cy="914400"/>
          </a:xfrm>
          <a:prstGeom prst="rect">
            <a:avLst/>
          </a:prstGeom>
          <a:noFill/>
        </p:spPr>
        <p:txBody>
          <a:bodyPr wrap="square" anchor="t"/>
          <a:lstStyle/>
          <a:p>
            <a:pPr algn="l"/>
            <a:r>
              <a:rPr sz="1600" b="0" i="1">
                <a:solidFill>
                  <a:srgbClr val="8B1A1A"/>
                </a:solidFill>
                <a:latin typeface="Calibri"/>
              </a:rPr>
              <a:t>El Power House va desde la parte inferior de las costillas hasta el final de la línea de la cadera. Incluye los músculos abdominales, los músculos bajos de la espalda, el suelo pélvico, los músculos alrededor de las caderas y los glúteos.</a:t>
            </a:r>
          </a:p>
        </p:txBody>
      </p:sp>
    </p:spTree>
  </p:cSld>
  <p:clrMapOvr>
    <a:masterClrMapping/>
  </p:clrMapOvr>
  <p:transition advTm="10000" spd="med"/>
</p:sld>
</file>

<file path=ppt/slides/slide17.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LOS GLÚTEOS</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10058400" cy="4572000"/>
          </a:xfrm>
          <a:prstGeom prst="rect">
            <a:avLst/>
          </a:prstGeom>
          <a:noFill/>
        </p:spPr>
        <p:txBody>
          <a:bodyPr wrap="square">
            <a:spAutoFit/>
          </a:bodyPr>
          <a:lstStyle/>
          <a:p>
            <a:pPr algn="l">
              <a:spcAft>
                <a:spcPts val="400"/>
              </a:spcAft>
            </a:pPr>
            <a:r>
              <a:rPr sz="2400" b="1">
                <a:solidFill>
                  <a:srgbClr val="8B1A1A"/>
                </a:solidFill>
                <a:latin typeface="Calibri"/>
              </a:rPr>
              <a:t>Grupo muscular de los glúteos:</a:t>
            </a:r>
          </a:p>
          <a:p>
            <a:pPr algn="l">
              <a:spcAft>
                <a:spcPts val="400"/>
              </a:spcAft>
            </a:pPr>
            <a:r>
              <a:rPr sz="2000" b="0">
                <a:solidFill>
                  <a:srgbClr val="000000"/>
                </a:solidFill>
                <a:latin typeface="Calibri"/>
              </a:rPr>
              <a:t/>
            </a:r>
          </a:p>
          <a:p>
            <a:pPr algn="l">
              <a:spcAft>
                <a:spcPts val="400"/>
              </a:spcAft>
            </a:pPr>
            <a:r>
              <a:rPr sz="2200" b="1">
                <a:solidFill>
                  <a:srgbClr val="E87A2E"/>
                </a:solidFill>
                <a:latin typeface="Calibri"/>
              </a:rPr>
              <a:t>Glúteo mayor</a:t>
            </a:r>
          </a:p>
          <a:p>
            <a:pPr algn="l">
              <a:spcAft>
                <a:spcPts val="400"/>
              </a:spcAft>
            </a:pPr>
            <a:r>
              <a:rPr sz="2000" b="0">
                <a:solidFill>
                  <a:srgbClr val="000000"/>
                </a:solidFill>
                <a:latin typeface="Calibri"/>
              </a:rPr>
              <a:t>El más grande y superficial. Extensión y rotación externa de la cadera.</a:t>
            </a:r>
          </a:p>
          <a:p>
            <a:pPr algn="l">
              <a:spcAft>
                <a:spcPts val="400"/>
              </a:spcAft>
            </a:pPr>
            <a:r>
              <a:rPr sz="2000" b="0">
                <a:solidFill>
                  <a:srgbClr val="000000"/>
                </a:solidFill>
                <a:latin typeface="Calibri"/>
              </a:rPr>
              <a:t/>
            </a:r>
          </a:p>
          <a:p>
            <a:pPr algn="l">
              <a:spcAft>
                <a:spcPts val="400"/>
              </a:spcAft>
            </a:pPr>
            <a:r>
              <a:rPr sz="2200" b="1">
                <a:solidFill>
                  <a:srgbClr val="E87A2E"/>
                </a:solidFill>
                <a:latin typeface="Calibri"/>
              </a:rPr>
              <a:t>Glúteo medio</a:t>
            </a:r>
          </a:p>
          <a:p>
            <a:pPr algn="l">
              <a:spcAft>
                <a:spcPts val="400"/>
              </a:spcAft>
            </a:pPr>
            <a:r>
              <a:rPr sz="2000" b="0">
                <a:solidFill>
                  <a:srgbClr val="000000"/>
                </a:solidFill>
                <a:latin typeface="Calibri"/>
              </a:rPr>
              <a:t>Abducción y rotación de la cadera. Fundamental para la estabilidad pélvica al caminar.</a:t>
            </a:r>
          </a:p>
          <a:p>
            <a:pPr algn="l">
              <a:spcAft>
                <a:spcPts val="400"/>
              </a:spcAft>
            </a:pPr>
            <a:r>
              <a:rPr sz="2000" b="0">
                <a:solidFill>
                  <a:srgbClr val="000000"/>
                </a:solidFill>
                <a:latin typeface="Calibri"/>
              </a:rPr>
              <a:t/>
            </a:r>
          </a:p>
          <a:p>
            <a:pPr algn="l">
              <a:spcAft>
                <a:spcPts val="400"/>
              </a:spcAft>
            </a:pPr>
            <a:r>
              <a:rPr sz="2200" b="1">
                <a:solidFill>
                  <a:srgbClr val="E87A2E"/>
                </a:solidFill>
                <a:latin typeface="Calibri"/>
              </a:rPr>
              <a:t>Glúteo menor</a:t>
            </a:r>
          </a:p>
          <a:p>
            <a:pPr algn="l">
              <a:spcAft>
                <a:spcPts val="400"/>
              </a:spcAft>
            </a:pPr>
            <a:r>
              <a:rPr sz="2000" b="0">
                <a:solidFill>
                  <a:srgbClr val="000000"/>
                </a:solidFill>
                <a:latin typeface="Calibri"/>
              </a:rPr>
              <a:t>El más profundo. Asiste al glúteo medio en la abducción.</a:t>
            </a:r>
          </a:p>
          <a:p>
            <a:pPr algn="l">
              <a:spcAft>
                <a:spcPts val="400"/>
              </a:spcAft>
            </a:pPr>
            <a:r>
              <a:rPr sz="2000" b="0">
                <a:solidFill>
                  <a:srgbClr val="000000"/>
                </a:solidFill>
                <a:latin typeface="Calibri"/>
              </a:rPr>
              <a:t/>
            </a:r>
          </a:p>
          <a:p>
            <a:pPr algn="l">
              <a:spcAft>
                <a:spcPts val="400"/>
              </a:spcAft>
            </a:pPr>
            <a:r>
              <a:rPr sz="2200" b="1">
                <a:solidFill>
                  <a:srgbClr val="E87A2E"/>
                </a:solidFill>
                <a:latin typeface="Calibri"/>
              </a:rPr>
              <a:t>Piriforme</a:t>
            </a:r>
          </a:p>
          <a:p>
            <a:pPr algn="l">
              <a:spcAft>
                <a:spcPts val="400"/>
              </a:spcAft>
            </a:pPr>
            <a:r>
              <a:rPr sz="2000" b="0">
                <a:solidFill>
                  <a:srgbClr val="000000"/>
                </a:solidFill>
                <a:latin typeface="Calibri"/>
              </a:rPr>
              <a:t>Rotador externo profundo. Su contractura puede comprimir el nervio ciático.</a:t>
            </a:r>
          </a:p>
        </p:txBody>
      </p:sp>
    </p:spTree>
  </p:cSld>
  <p:clrMapOvr>
    <a:masterClrMapping/>
  </p:clrMapOvr>
  <p:transition advTm="10000" spd="med"/>
</p:sld>
</file>

<file path=ppt/slides/slide18.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200" b="1" i="0">
                <a:solidFill>
                  <a:srgbClr val="FFFFFF"/>
                </a:solidFill>
                <a:latin typeface="Calibri"/>
              </a:rPr>
              <a:t>CUÁDRICEPS Y TENDONES DE LA CORVA</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5029200" cy="4572000"/>
          </a:xfrm>
          <a:prstGeom prst="rect">
            <a:avLst/>
          </a:prstGeom>
          <a:noFill/>
        </p:spPr>
        <p:txBody>
          <a:bodyPr wrap="square">
            <a:spAutoFit/>
          </a:bodyPr>
          <a:lstStyle/>
          <a:p>
            <a:pPr algn="l">
              <a:spcAft>
                <a:spcPts val="400"/>
              </a:spcAft>
            </a:pPr>
            <a:r>
              <a:rPr sz="2200" b="1">
                <a:solidFill>
                  <a:srgbClr val="E87A2E"/>
                </a:solidFill>
                <a:latin typeface="Calibri"/>
              </a:rPr>
              <a:t>Cuádriceps (anterior del muslo):</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 Recto femoral</a:t>
            </a:r>
          </a:p>
          <a:p>
            <a:pPr algn="l">
              <a:spcAft>
                <a:spcPts val="400"/>
              </a:spcAft>
            </a:pPr>
            <a:r>
              <a:rPr sz="2000" b="0">
                <a:solidFill>
                  <a:srgbClr val="000000"/>
                </a:solidFill>
                <a:latin typeface="Calibri"/>
              </a:rPr>
              <a:t>• Vasto intermedio</a:t>
            </a:r>
          </a:p>
          <a:p>
            <a:pPr algn="l">
              <a:spcAft>
                <a:spcPts val="400"/>
              </a:spcAft>
            </a:pPr>
            <a:r>
              <a:rPr sz="2000" b="0">
                <a:solidFill>
                  <a:srgbClr val="000000"/>
                </a:solidFill>
                <a:latin typeface="Calibri"/>
              </a:rPr>
              <a:t>• Vasto lateral</a:t>
            </a:r>
          </a:p>
          <a:p>
            <a:pPr algn="l">
              <a:spcAft>
                <a:spcPts val="400"/>
              </a:spcAft>
            </a:pPr>
            <a:r>
              <a:rPr sz="2000" b="0">
                <a:solidFill>
                  <a:srgbClr val="000000"/>
                </a:solidFill>
                <a:latin typeface="Calibri"/>
              </a:rPr>
              <a:t>• Vasto medial</a:t>
            </a:r>
          </a:p>
        </p:txBody>
      </p:sp>
      <p:sp>
        <p:nvSpPr>
          <p:cNvPr id="6" name="TextBox 5"/>
          <p:cNvSpPr txBox="1"/>
          <p:nvPr/>
        </p:nvSpPr>
        <p:spPr>
          <a:xfrm>
            <a:off x="6400800" y="2011680"/>
            <a:ext cx="5029200" cy="4572000"/>
          </a:xfrm>
          <a:prstGeom prst="rect">
            <a:avLst/>
          </a:prstGeom>
          <a:noFill/>
        </p:spPr>
        <p:txBody>
          <a:bodyPr wrap="square">
            <a:spAutoFit/>
          </a:bodyPr>
          <a:lstStyle/>
          <a:p>
            <a:pPr algn="l">
              <a:spcAft>
                <a:spcPts val="400"/>
              </a:spcAft>
            </a:pPr>
            <a:r>
              <a:rPr sz="2200" b="1">
                <a:solidFill>
                  <a:srgbClr val="E87A2E"/>
                </a:solidFill>
                <a:latin typeface="Calibri"/>
              </a:rPr>
              <a:t>Isquiotibiales (posterior del muslo):</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 Bíceps femoral</a:t>
            </a:r>
          </a:p>
          <a:p>
            <a:pPr algn="l">
              <a:spcAft>
                <a:spcPts val="400"/>
              </a:spcAft>
            </a:pPr>
            <a:r>
              <a:rPr sz="2000" b="0">
                <a:solidFill>
                  <a:srgbClr val="000000"/>
                </a:solidFill>
                <a:latin typeface="Calibri"/>
              </a:rPr>
              <a:t>• Semitendinoso</a:t>
            </a:r>
          </a:p>
          <a:p>
            <a:pPr algn="l">
              <a:spcAft>
                <a:spcPts val="400"/>
              </a:spcAft>
            </a:pPr>
            <a:r>
              <a:rPr sz="2000" b="0">
                <a:solidFill>
                  <a:srgbClr val="000000"/>
                </a:solidFill>
                <a:latin typeface="Calibri"/>
              </a:rPr>
              <a:t>• Semimembranoso</a:t>
            </a:r>
          </a:p>
          <a:p>
            <a:pPr algn="l">
              <a:spcAft>
                <a:spcPts val="400"/>
              </a:spcAft>
            </a:pPr>
            <a:r>
              <a:rPr sz="2000" b="0">
                <a:solidFill>
                  <a:srgbClr val="000000"/>
                </a:solidFill>
                <a:latin typeface="Calibri"/>
              </a:rPr>
              <a:t>• Poplíteo</a:t>
            </a:r>
          </a:p>
        </p:txBody>
      </p:sp>
    </p:spTree>
  </p:cSld>
  <p:clrMapOvr>
    <a:masterClrMapping/>
  </p:clrMapOvr>
  <p:transition advTm="10000" spd="med"/>
</p:sld>
</file>

<file path=ppt/slides/slide19.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MÚSCULOS DEL CUELLO</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10058400" cy="4572000"/>
          </a:xfrm>
          <a:prstGeom prst="rect">
            <a:avLst/>
          </a:prstGeom>
          <a:noFill/>
        </p:spPr>
        <p:txBody>
          <a:bodyPr wrap="square">
            <a:spAutoFit/>
          </a:bodyPr>
          <a:lstStyle/>
          <a:p>
            <a:pPr algn="l">
              <a:spcAft>
                <a:spcPts val="400"/>
              </a:spcAft>
            </a:pPr>
            <a:r>
              <a:rPr sz="2200" b="1">
                <a:solidFill>
                  <a:srgbClr val="8B1A1A"/>
                </a:solidFill>
                <a:latin typeface="Calibri"/>
              </a:rPr>
              <a:t>Principales músculos del cuello:</a:t>
            </a:r>
          </a:p>
          <a:p>
            <a:pPr algn="l">
              <a:spcAft>
                <a:spcPts val="400"/>
              </a:spcAft>
            </a:pPr>
            <a:r>
              <a:rPr sz="2000" b="0">
                <a:solidFill>
                  <a:srgbClr val="000000"/>
                </a:solidFill>
                <a:latin typeface="Calibri"/>
              </a:rPr>
              <a:t/>
            </a:r>
          </a:p>
          <a:p>
            <a:pPr algn="l">
              <a:spcAft>
                <a:spcPts val="400"/>
              </a:spcAft>
            </a:pPr>
            <a:r>
              <a:rPr sz="2000" b="0">
                <a:solidFill>
                  <a:srgbClr val="000000"/>
                </a:solidFill>
                <a:latin typeface="Calibri"/>
              </a:rPr>
              <a:t>• Esternocleidomastoideo (ECM): flexión y rotación de la cabeza</a:t>
            </a:r>
          </a:p>
          <a:p>
            <a:pPr algn="l">
              <a:spcAft>
                <a:spcPts val="400"/>
              </a:spcAft>
            </a:pPr>
            <a:r>
              <a:rPr sz="2000" b="0">
                <a:solidFill>
                  <a:srgbClr val="000000"/>
                </a:solidFill>
                <a:latin typeface="Calibri"/>
              </a:rPr>
              <a:t>• Escalenos (anterior, medio, posterior): flexión lateral</a:t>
            </a:r>
          </a:p>
          <a:p>
            <a:pPr algn="l">
              <a:spcAft>
                <a:spcPts val="400"/>
              </a:spcAft>
            </a:pPr>
            <a:r>
              <a:rPr sz="2000" b="0">
                <a:solidFill>
                  <a:srgbClr val="000000"/>
                </a:solidFill>
                <a:latin typeface="Calibri"/>
              </a:rPr>
              <a:t>• Esplenio de la cabeza: extensión y rotación</a:t>
            </a:r>
          </a:p>
          <a:p>
            <a:pPr algn="l">
              <a:spcAft>
                <a:spcPts val="400"/>
              </a:spcAft>
            </a:pPr>
            <a:r>
              <a:rPr sz="2000" b="0">
                <a:solidFill>
                  <a:srgbClr val="000000"/>
                </a:solidFill>
                <a:latin typeface="Calibri"/>
              </a:rPr>
              <a:t>• Largo del cuello: flexión cervical profunda</a:t>
            </a:r>
          </a:p>
          <a:p>
            <a:pPr algn="l">
              <a:spcAft>
                <a:spcPts val="400"/>
              </a:spcAft>
            </a:pPr>
            <a:r>
              <a:rPr sz="2000" b="0">
                <a:solidFill>
                  <a:srgbClr val="000000"/>
                </a:solidFill>
                <a:latin typeface="Calibri"/>
              </a:rPr>
              <a:t/>
            </a:r>
          </a:p>
          <a:p>
            <a:pPr algn="l">
              <a:spcAft>
                <a:spcPts val="400"/>
              </a:spcAft>
            </a:pPr>
            <a:r>
              <a:rPr sz="2200" b="1">
                <a:solidFill>
                  <a:srgbClr val="E87A2E"/>
                </a:solidFill>
                <a:latin typeface="Calibri"/>
              </a:rPr>
              <a:t>En Pilates:</a:t>
            </a:r>
          </a:p>
          <a:p>
            <a:pPr algn="l">
              <a:spcAft>
                <a:spcPts val="400"/>
              </a:spcAft>
            </a:pPr>
            <a:r>
              <a:rPr sz="2000" b="0">
                <a:solidFill>
                  <a:srgbClr val="000000"/>
                </a:solidFill>
                <a:latin typeface="Calibri"/>
              </a:rPr>
              <a:t>La colocación correcta de la cabeza y el cuello es uno de los principios fundamentales.</a:t>
            </a:r>
          </a:p>
          <a:p>
            <a:pPr algn="l">
              <a:spcAft>
                <a:spcPts val="400"/>
              </a:spcAft>
            </a:pPr>
            <a:r>
              <a:rPr sz="2000" b="0">
                <a:solidFill>
                  <a:srgbClr val="000000"/>
                </a:solidFill>
                <a:latin typeface="Calibri"/>
              </a:rPr>
              <a:t>Evitar la tensión excesiva en el cuello durante los ejercicios abdominales.</a:t>
            </a:r>
          </a:p>
        </p:txBody>
      </p:sp>
    </p:spTree>
  </p:cSld>
  <p:clrMapOvr>
    <a:masterClrMapping/>
  </p:clrMapOvr>
  <p:transition advTm="10000" spd="med"/>
</p:sld>
</file>

<file path=ppt/slides/slide20.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TRAPECIO</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10058400" cy="4572000"/>
          </a:xfrm>
          <a:prstGeom prst="rect">
            <a:avLst/>
          </a:prstGeom>
          <a:noFill/>
        </p:spPr>
        <p:txBody>
          <a:bodyPr wrap="square">
            <a:spAutoFit/>
          </a:bodyPr>
          <a:lstStyle/>
          <a:p>
            <a:pPr algn="l">
              <a:spcAft>
                <a:spcPts val="400"/>
              </a:spcAft>
            </a:pPr>
            <a:r>
              <a:rPr sz="2400" b="1">
                <a:solidFill>
                  <a:srgbClr val="8B1A1A"/>
                </a:solidFill>
                <a:latin typeface="Calibri"/>
              </a:rPr>
              <a:t>El trapecio se divide en tres porciones:</a:t>
            </a:r>
          </a:p>
          <a:p>
            <a:pPr algn="l">
              <a:spcAft>
                <a:spcPts val="400"/>
              </a:spcAft>
            </a:pPr>
            <a:r>
              <a:rPr sz="2000" b="0">
                <a:solidFill>
                  <a:srgbClr val="000000"/>
                </a:solidFill>
                <a:latin typeface="Calibri"/>
              </a:rPr>
              <a:t/>
            </a:r>
          </a:p>
          <a:p>
            <a:pPr algn="l">
              <a:spcAft>
                <a:spcPts val="400"/>
              </a:spcAft>
            </a:pPr>
            <a:r>
              <a:rPr sz="2200" b="1">
                <a:solidFill>
                  <a:srgbClr val="E87A2E"/>
                </a:solidFill>
                <a:latin typeface="Calibri"/>
              </a:rPr>
              <a:t>Fibras superiores</a:t>
            </a:r>
          </a:p>
          <a:p>
            <a:pPr algn="l">
              <a:spcAft>
                <a:spcPts val="400"/>
              </a:spcAft>
            </a:pPr>
            <a:r>
              <a:rPr sz="2000" b="0">
                <a:solidFill>
                  <a:srgbClr val="000000"/>
                </a:solidFill>
                <a:latin typeface="Calibri"/>
              </a:rPr>
              <a:t>Elevan la escápula y extienden la cabeza</a:t>
            </a:r>
          </a:p>
          <a:p>
            <a:pPr algn="l">
              <a:spcAft>
                <a:spcPts val="400"/>
              </a:spcAft>
            </a:pPr>
            <a:r>
              <a:rPr sz="2000" b="0">
                <a:solidFill>
                  <a:srgbClr val="000000"/>
                </a:solidFill>
                <a:latin typeface="Calibri"/>
              </a:rPr>
              <a:t/>
            </a:r>
          </a:p>
          <a:p>
            <a:pPr algn="l">
              <a:spcAft>
                <a:spcPts val="400"/>
              </a:spcAft>
            </a:pPr>
            <a:r>
              <a:rPr sz="2200" b="1">
                <a:solidFill>
                  <a:srgbClr val="E87A2E"/>
                </a:solidFill>
                <a:latin typeface="Calibri"/>
              </a:rPr>
              <a:t>Fibras medias</a:t>
            </a:r>
          </a:p>
          <a:p>
            <a:pPr algn="l">
              <a:spcAft>
                <a:spcPts val="400"/>
              </a:spcAft>
            </a:pPr>
            <a:r>
              <a:rPr sz="2000" b="0">
                <a:solidFill>
                  <a:srgbClr val="000000"/>
                </a:solidFill>
                <a:latin typeface="Calibri"/>
              </a:rPr>
              <a:t>Retracción de la escápula (acercan la escápula a la columna)</a:t>
            </a:r>
          </a:p>
          <a:p>
            <a:pPr algn="l">
              <a:spcAft>
                <a:spcPts val="400"/>
              </a:spcAft>
            </a:pPr>
            <a:r>
              <a:rPr sz="2000" b="0">
                <a:solidFill>
                  <a:srgbClr val="000000"/>
                </a:solidFill>
                <a:latin typeface="Calibri"/>
              </a:rPr>
              <a:t/>
            </a:r>
          </a:p>
          <a:p>
            <a:pPr algn="l">
              <a:spcAft>
                <a:spcPts val="400"/>
              </a:spcAft>
            </a:pPr>
            <a:r>
              <a:rPr sz="2200" b="1">
                <a:solidFill>
                  <a:srgbClr val="E87A2E"/>
                </a:solidFill>
                <a:latin typeface="Calibri"/>
              </a:rPr>
              <a:t>Fibras inferiores</a:t>
            </a:r>
          </a:p>
          <a:p>
            <a:pPr algn="l">
              <a:spcAft>
                <a:spcPts val="400"/>
              </a:spcAft>
            </a:pPr>
            <a:r>
              <a:rPr sz="2000" b="0">
                <a:solidFill>
                  <a:srgbClr val="000000"/>
                </a:solidFill>
                <a:latin typeface="Calibri"/>
              </a:rPr>
              <a:t>Depresión de la escápula (bajan la escápula)</a:t>
            </a:r>
          </a:p>
          <a:p>
            <a:pPr algn="l">
              <a:spcAft>
                <a:spcPts val="400"/>
              </a:spcAft>
            </a:pPr>
            <a:r>
              <a:rPr sz="2000" b="0">
                <a:solidFill>
                  <a:srgbClr val="000000"/>
                </a:solidFill>
                <a:latin typeface="Calibri"/>
              </a:rPr>
              <a:t/>
            </a:r>
          </a:p>
          <a:p>
            <a:pPr algn="l">
              <a:spcAft>
                <a:spcPts val="400"/>
              </a:spcAft>
            </a:pPr>
            <a:r>
              <a:rPr sz="2200" b="1">
                <a:solidFill>
                  <a:srgbClr val="8B1A1A"/>
                </a:solidFill>
                <a:latin typeface="Calibri"/>
              </a:rPr>
              <a:t>En Pilates:</a:t>
            </a:r>
          </a:p>
          <a:p>
            <a:pPr algn="l">
              <a:spcAft>
                <a:spcPts val="400"/>
              </a:spcAft>
            </a:pPr>
            <a:r>
              <a:rPr sz="2000" b="0">
                <a:solidFill>
                  <a:srgbClr val="000000"/>
                </a:solidFill>
                <a:latin typeface="Calibri"/>
              </a:rPr>
              <a:t>La estabilización escapular es fundamental. Se busca activar las fibras medias e inferiores y relajar las superiores.</a:t>
            </a:r>
          </a:p>
        </p:txBody>
      </p:sp>
    </p:spTree>
  </p:cSld>
  <p:clrMapOvr>
    <a:masterClrMapping/>
  </p:clrMapOvr>
  <p:transition advTm="10000" spd="med"/>
</p:sld>
</file>

<file path=ppt/slides/slide21.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000" b="1" i="0">
                <a:solidFill>
                  <a:srgbClr val="FFFFFF"/>
                </a:solidFill>
                <a:latin typeface="Calibri"/>
              </a:rPr>
              <a:t>CLASIFICACIÓN DE EJERCICIOS DEL MÉTODO PILATES</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2011680"/>
            <a:ext cx="3474720" cy="54864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057400"/>
            <a:ext cx="3474720" cy="502920"/>
          </a:xfrm>
          <a:prstGeom prst="rect">
            <a:avLst/>
          </a:prstGeom>
          <a:noFill/>
        </p:spPr>
        <p:txBody>
          <a:bodyPr wrap="square" anchor="t"/>
          <a:lstStyle/>
          <a:p>
            <a:pPr algn="ctr"/>
            <a:r>
              <a:rPr sz="1800" b="1" i="0">
                <a:solidFill>
                  <a:srgbClr val="FFFFFF"/>
                </a:solidFill>
                <a:latin typeface="Calibri"/>
              </a:rPr>
              <a:t>Ejercicios Abdominales</a:t>
            </a:r>
          </a:p>
        </p:txBody>
      </p:sp>
      <p:sp>
        <p:nvSpPr>
          <p:cNvPr id="7" name="TextBox 6"/>
          <p:cNvSpPr txBox="1"/>
          <p:nvPr/>
        </p:nvSpPr>
        <p:spPr>
          <a:xfrm>
            <a:off x="731520" y="2834640"/>
            <a:ext cx="3108960" cy="365760"/>
          </a:xfrm>
          <a:prstGeom prst="rect">
            <a:avLst/>
          </a:prstGeom>
          <a:noFill/>
        </p:spPr>
        <p:txBody>
          <a:bodyPr wrap="square" anchor="t"/>
          <a:lstStyle/>
          <a:p>
            <a:pPr algn="l"/>
            <a:r>
              <a:rPr sz="1600" b="0" i="0">
                <a:solidFill>
                  <a:srgbClr val="000000"/>
                </a:solidFill>
                <a:latin typeface="Calibri"/>
              </a:rPr>
              <a:t>1. The Hundred (El Cien)</a:t>
            </a:r>
          </a:p>
        </p:txBody>
      </p:sp>
      <p:sp>
        <p:nvSpPr>
          <p:cNvPr id="8" name="TextBox 7"/>
          <p:cNvSpPr txBox="1"/>
          <p:nvPr/>
        </p:nvSpPr>
        <p:spPr>
          <a:xfrm>
            <a:off x="731520" y="3246120"/>
            <a:ext cx="3108960" cy="365760"/>
          </a:xfrm>
          <a:prstGeom prst="rect">
            <a:avLst/>
          </a:prstGeom>
          <a:noFill/>
        </p:spPr>
        <p:txBody>
          <a:bodyPr wrap="square" anchor="t"/>
          <a:lstStyle/>
          <a:p>
            <a:pPr algn="l"/>
            <a:r>
              <a:rPr sz="1600" b="0" i="0">
                <a:solidFill>
                  <a:srgbClr val="000000"/>
                </a:solidFill>
                <a:latin typeface="Calibri"/>
              </a:rPr>
              <a:t>2. The Roll Up</a:t>
            </a:r>
          </a:p>
        </p:txBody>
      </p:sp>
      <p:sp>
        <p:nvSpPr>
          <p:cNvPr id="9" name="TextBox 8"/>
          <p:cNvSpPr txBox="1"/>
          <p:nvPr/>
        </p:nvSpPr>
        <p:spPr>
          <a:xfrm>
            <a:off x="731520" y="3657600"/>
            <a:ext cx="3108960" cy="365760"/>
          </a:xfrm>
          <a:prstGeom prst="rect">
            <a:avLst/>
          </a:prstGeom>
          <a:noFill/>
        </p:spPr>
        <p:txBody>
          <a:bodyPr wrap="square" anchor="t"/>
          <a:lstStyle/>
          <a:p>
            <a:pPr algn="l"/>
            <a:r>
              <a:rPr sz="1600" b="0" i="0">
                <a:solidFill>
                  <a:srgbClr val="000000"/>
                </a:solidFill>
                <a:latin typeface="Calibri"/>
              </a:rPr>
              <a:t>3. The Neck Pull</a:t>
            </a:r>
          </a:p>
        </p:txBody>
      </p:sp>
      <p:sp>
        <p:nvSpPr>
          <p:cNvPr id="10" name="TextBox 9"/>
          <p:cNvSpPr txBox="1"/>
          <p:nvPr/>
        </p:nvSpPr>
        <p:spPr>
          <a:xfrm>
            <a:off x="731520" y="4069080"/>
            <a:ext cx="3108960" cy="365760"/>
          </a:xfrm>
          <a:prstGeom prst="rect">
            <a:avLst/>
          </a:prstGeom>
          <a:noFill/>
        </p:spPr>
        <p:txBody>
          <a:bodyPr wrap="square" anchor="t"/>
          <a:lstStyle/>
          <a:p>
            <a:pPr algn="l"/>
            <a:r>
              <a:rPr sz="1600" b="0" i="0">
                <a:solidFill>
                  <a:srgbClr val="000000"/>
                </a:solidFill>
                <a:latin typeface="Calibri"/>
              </a:rPr>
              <a:t>4. The Teaser</a:t>
            </a:r>
          </a:p>
        </p:txBody>
      </p:sp>
      <p:sp>
        <p:nvSpPr>
          <p:cNvPr id="11" name="TextBox 10"/>
          <p:cNvSpPr txBox="1"/>
          <p:nvPr/>
        </p:nvSpPr>
        <p:spPr>
          <a:xfrm>
            <a:off x="731520" y="4480560"/>
            <a:ext cx="3108960" cy="365760"/>
          </a:xfrm>
          <a:prstGeom prst="rect">
            <a:avLst/>
          </a:prstGeom>
          <a:noFill/>
        </p:spPr>
        <p:txBody>
          <a:bodyPr wrap="square" anchor="t"/>
          <a:lstStyle/>
          <a:p>
            <a:pPr algn="l"/>
            <a:r>
              <a:rPr sz="1600" b="0" i="0">
                <a:solidFill>
                  <a:srgbClr val="000000"/>
                </a:solidFill>
                <a:latin typeface="Calibri"/>
              </a:rPr>
              <a:t>5. The Criss-Cross</a:t>
            </a:r>
          </a:p>
        </p:txBody>
      </p:sp>
      <p:sp>
        <p:nvSpPr>
          <p:cNvPr id="12" name="Rectangle 11"/>
          <p:cNvSpPr/>
          <p:nvPr/>
        </p:nvSpPr>
        <p:spPr>
          <a:xfrm>
            <a:off x="4389120" y="2011680"/>
            <a:ext cx="3474720" cy="54864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2057400"/>
            <a:ext cx="3474720" cy="502920"/>
          </a:xfrm>
          <a:prstGeom prst="rect">
            <a:avLst/>
          </a:prstGeom>
          <a:noFill/>
        </p:spPr>
        <p:txBody>
          <a:bodyPr wrap="square" anchor="t"/>
          <a:lstStyle/>
          <a:p>
            <a:pPr algn="ctr"/>
            <a:r>
              <a:rPr sz="1800" b="1" i="0">
                <a:solidFill>
                  <a:srgbClr val="FFFFFF"/>
                </a:solidFill>
                <a:latin typeface="Calibri"/>
              </a:rPr>
              <a:t>Ejercicios de Flexión y Rotación</a:t>
            </a:r>
          </a:p>
        </p:txBody>
      </p:sp>
      <p:sp>
        <p:nvSpPr>
          <p:cNvPr id="14" name="TextBox 13"/>
          <p:cNvSpPr txBox="1"/>
          <p:nvPr/>
        </p:nvSpPr>
        <p:spPr>
          <a:xfrm>
            <a:off x="4572000" y="2834640"/>
            <a:ext cx="3108960" cy="365760"/>
          </a:xfrm>
          <a:prstGeom prst="rect">
            <a:avLst/>
          </a:prstGeom>
          <a:noFill/>
        </p:spPr>
        <p:txBody>
          <a:bodyPr wrap="square" anchor="t"/>
          <a:lstStyle/>
          <a:p>
            <a:pPr algn="l"/>
            <a:r>
              <a:rPr sz="1600" b="0" i="0">
                <a:solidFill>
                  <a:srgbClr val="000000"/>
                </a:solidFill>
                <a:latin typeface="Calibri"/>
              </a:rPr>
              <a:t>1. The Saw</a:t>
            </a:r>
          </a:p>
        </p:txBody>
      </p:sp>
      <p:sp>
        <p:nvSpPr>
          <p:cNvPr id="15" name="TextBox 14"/>
          <p:cNvSpPr txBox="1"/>
          <p:nvPr/>
        </p:nvSpPr>
        <p:spPr>
          <a:xfrm>
            <a:off x="4572000" y="3246120"/>
            <a:ext cx="3108960" cy="365760"/>
          </a:xfrm>
          <a:prstGeom prst="rect">
            <a:avLst/>
          </a:prstGeom>
          <a:noFill/>
        </p:spPr>
        <p:txBody>
          <a:bodyPr wrap="square" anchor="t"/>
          <a:lstStyle/>
          <a:p>
            <a:pPr algn="l"/>
            <a:r>
              <a:rPr sz="1600" b="0" i="0">
                <a:solidFill>
                  <a:srgbClr val="000000"/>
                </a:solidFill>
                <a:latin typeface="Calibri"/>
              </a:rPr>
              <a:t>2. The Spine Stretch Forward</a:t>
            </a:r>
          </a:p>
        </p:txBody>
      </p:sp>
      <p:sp>
        <p:nvSpPr>
          <p:cNvPr id="16" name="TextBox 15"/>
          <p:cNvSpPr txBox="1"/>
          <p:nvPr/>
        </p:nvSpPr>
        <p:spPr>
          <a:xfrm>
            <a:off x="4572000" y="3657600"/>
            <a:ext cx="3108960" cy="365760"/>
          </a:xfrm>
          <a:prstGeom prst="rect">
            <a:avLst/>
          </a:prstGeom>
          <a:noFill/>
        </p:spPr>
        <p:txBody>
          <a:bodyPr wrap="square" anchor="t"/>
          <a:lstStyle/>
          <a:p>
            <a:pPr algn="l"/>
            <a:r>
              <a:rPr sz="1600" b="0" i="0">
                <a:solidFill>
                  <a:srgbClr val="000000"/>
                </a:solidFill>
                <a:latin typeface="Calibri"/>
              </a:rPr>
              <a:t>3. The Spine Twist</a:t>
            </a:r>
          </a:p>
        </p:txBody>
      </p:sp>
      <p:sp>
        <p:nvSpPr>
          <p:cNvPr id="17" name="TextBox 16"/>
          <p:cNvSpPr txBox="1"/>
          <p:nvPr/>
        </p:nvSpPr>
        <p:spPr>
          <a:xfrm>
            <a:off x="4572000" y="4069080"/>
            <a:ext cx="3108960" cy="365760"/>
          </a:xfrm>
          <a:prstGeom prst="rect">
            <a:avLst/>
          </a:prstGeom>
          <a:noFill/>
        </p:spPr>
        <p:txBody>
          <a:bodyPr wrap="square" anchor="t"/>
          <a:lstStyle/>
          <a:p>
            <a:pPr algn="l"/>
            <a:r>
              <a:rPr sz="1600" b="0" i="0">
                <a:solidFill>
                  <a:srgbClr val="000000"/>
                </a:solidFill>
                <a:latin typeface="Calibri"/>
              </a:rPr>
              <a:t>4. The Scissors</a:t>
            </a:r>
          </a:p>
        </p:txBody>
      </p:sp>
      <p:sp>
        <p:nvSpPr>
          <p:cNvPr id="18" name="Rectangle 17"/>
          <p:cNvSpPr/>
          <p:nvPr/>
        </p:nvSpPr>
        <p:spPr>
          <a:xfrm>
            <a:off x="8229600" y="2011680"/>
            <a:ext cx="3474720" cy="54864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2057400"/>
            <a:ext cx="3474720" cy="502920"/>
          </a:xfrm>
          <a:prstGeom prst="rect">
            <a:avLst/>
          </a:prstGeom>
          <a:noFill/>
        </p:spPr>
        <p:txBody>
          <a:bodyPr wrap="square" anchor="t"/>
          <a:lstStyle/>
          <a:p>
            <a:pPr algn="ctr"/>
            <a:r>
              <a:rPr sz="1800" b="1" i="0">
                <a:solidFill>
                  <a:srgbClr val="FFFFFF"/>
                </a:solidFill>
                <a:latin typeface="Calibri"/>
              </a:rPr>
              <a:t>Ejercicios de Extensión</a:t>
            </a:r>
          </a:p>
        </p:txBody>
      </p:sp>
      <p:sp>
        <p:nvSpPr>
          <p:cNvPr id="20" name="TextBox 19"/>
          <p:cNvSpPr txBox="1"/>
          <p:nvPr/>
        </p:nvSpPr>
        <p:spPr>
          <a:xfrm>
            <a:off x="8412480" y="2834640"/>
            <a:ext cx="3108960" cy="365760"/>
          </a:xfrm>
          <a:prstGeom prst="rect">
            <a:avLst/>
          </a:prstGeom>
          <a:noFill/>
        </p:spPr>
        <p:txBody>
          <a:bodyPr wrap="square" anchor="t"/>
          <a:lstStyle/>
          <a:p>
            <a:pPr algn="l"/>
            <a:r>
              <a:rPr sz="1600" b="0" i="0">
                <a:solidFill>
                  <a:srgbClr val="000000"/>
                </a:solidFill>
                <a:latin typeface="Calibri"/>
              </a:rPr>
              <a:t>1. The Swan Dive</a:t>
            </a:r>
          </a:p>
        </p:txBody>
      </p:sp>
      <p:sp>
        <p:nvSpPr>
          <p:cNvPr id="21" name="TextBox 20"/>
          <p:cNvSpPr txBox="1"/>
          <p:nvPr/>
        </p:nvSpPr>
        <p:spPr>
          <a:xfrm>
            <a:off x="8412480" y="3246120"/>
            <a:ext cx="3108960" cy="365760"/>
          </a:xfrm>
          <a:prstGeom prst="rect">
            <a:avLst/>
          </a:prstGeom>
          <a:noFill/>
        </p:spPr>
        <p:txBody>
          <a:bodyPr wrap="square" anchor="t"/>
          <a:lstStyle/>
          <a:p>
            <a:pPr algn="l"/>
            <a:r>
              <a:rPr sz="1600" b="0" i="0">
                <a:solidFill>
                  <a:srgbClr val="000000"/>
                </a:solidFill>
                <a:latin typeface="Calibri"/>
              </a:rPr>
              <a:t>2. The Swimming</a:t>
            </a:r>
          </a:p>
        </p:txBody>
      </p:sp>
      <p:sp>
        <p:nvSpPr>
          <p:cNvPr id="22" name="TextBox 21"/>
          <p:cNvSpPr txBox="1"/>
          <p:nvPr/>
        </p:nvSpPr>
        <p:spPr>
          <a:xfrm>
            <a:off x="8412480" y="3657600"/>
            <a:ext cx="3108960" cy="365760"/>
          </a:xfrm>
          <a:prstGeom prst="rect">
            <a:avLst/>
          </a:prstGeom>
          <a:noFill/>
        </p:spPr>
        <p:txBody>
          <a:bodyPr wrap="square" anchor="t"/>
          <a:lstStyle/>
          <a:p>
            <a:pPr algn="l"/>
            <a:r>
              <a:rPr sz="1600" b="0" i="0">
                <a:solidFill>
                  <a:srgbClr val="000000"/>
                </a:solidFill>
                <a:latin typeface="Calibri"/>
              </a:rPr>
              <a:t>3. The Single Leg Kick</a:t>
            </a:r>
          </a:p>
        </p:txBody>
      </p:sp>
    </p:spTree>
  </p:cSld>
  <p:clrMapOvr>
    <a:masterClrMapping/>
  </p:clrMapOvr>
  <p:transition advTm="10000" spd="med"/>
</p:sld>
</file>

<file path=ppt/slides/slide22.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000" b="1" i="0">
                <a:solidFill>
                  <a:srgbClr val="FFFFFF"/>
                </a:solidFill>
                <a:latin typeface="Calibri"/>
              </a:rPr>
              <a:t>SERIE CLÁSICA DE EJERCICIOS DEL MÉTODO PILATES</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058400" cy="457200"/>
          </a:xfrm>
          <a:prstGeom prst="rect">
            <a:avLst/>
          </a:prstGeom>
          <a:noFill/>
        </p:spPr>
        <p:txBody>
          <a:bodyPr wrap="square" anchor="t"/>
          <a:lstStyle/>
          <a:p>
            <a:pPr algn="ctr"/>
            <a:r>
              <a:rPr sz="2000" b="0" i="1">
                <a:solidFill>
                  <a:srgbClr val="000000"/>
                </a:solidFill>
                <a:latin typeface="Calibri"/>
              </a:rPr>
              <a:t>Clasificación de los ejercicios del Método Pilates por su finalidad</a:t>
            </a:r>
          </a:p>
        </p:txBody>
      </p:sp>
      <p:sp>
        <p:nvSpPr>
          <p:cNvPr id="6" name="TextBox 5"/>
          <p:cNvSpPr txBox="1"/>
          <p:nvPr/>
        </p:nvSpPr>
        <p:spPr>
          <a:xfrm>
            <a:off x="1828800" y="2560320"/>
            <a:ext cx="8229600" cy="640080"/>
          </a:xfrm>
          <a:prstGeom prst="rect">
            <a:avLst/>
          </a:prstGeom>
          <a:noFill/>
        </p:spPr>
        <p:txBody>
          <a:bodyPr wrap="square" anchor="t"/>
          <a:lstStyle/>
          <a:p>
            <a:pPr algn="ctr"/>
            <a:r>
              <a:rPr sz="2800" b="1" i="0">
                <a:solidFill>
                  <a:srgbClr val="8B1A1A"/>
                </a:solidFill>
                <a:latin typeface="Calibri"/>
              </a:rPr>
              <a:t>BLOQUE DE CALENTAMIENTO</a:t>
            </a:r>
          </a:p>
        </p:txBody>
      </p:sp>
      <p:sp>
        <p:nvSpPr>
          <p:cNvPr id="7" name="Rectangle 6"/>
          <p:cNvSpPr/>
          <p:nvPr/>
        </p:nvSpPr>
        <p:spPr>
          <a:xfrm>
            <a:off x="1828800" y="3474720"/>
            <a:ext cx="548640" cy="45720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3474720"/>
            <a:ext cx="548640" cy="457200"/>
          </a:xfrm>
          <a:prstGeom prst="rect">
            <a:avLst/>
          </a:prstGeom>
          <a:noFill/>
        </p:spPr>
        <p:txBody>
          <a:bodyPr wrap="square" anchor="t"/>
          <a:lstStyle/>
          <a:p>
            <a:pPr algn="ctr"/>
            <a:r>
              <a:rPr sz="2200" b="1" i="0">
                <a:solidFill>
                  <a:srgbClr val="FFFFFF"/>
                </a:solidFill>
                <a:latin typeface="Calibri"/>
              </a:rPr>
              <a:t>1</a:t>
            </a:r>
          </a:p>
        </p:txBody>
      </p:sp>
      <p:sp>
        <p:nvSpPr>
          <p:cNvPr id="9" name="Rectangle 8"/>
          <p:cNvSpPr/>
          <p:nvPr/>
        </p:nvSpPr>
        <p:spPr>
          <a:xfrm>
            <a:off x="2468880" y="3474720"/>
            <a:ext cx="7315200" cy="457200"/>
          </a:xfrm>
          <a:prstGeom prst="rect">
            <a:avLst/>
          </a:prstGeom>
          <a:solidFill>
            <a:srgbClr val="F5C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51760" y="3474720"/>
            <a:ext cx="6858000" cy="457200"/>
          </a:xfrm>
          <a:prstGeom prst="rect">
            <a:avLst/>
          </a:prstGeom>
          <a:noFill/>
        </p:spPr>
        <p:txBody>
          <a:bodyPr wrap="square" anchor="t"/>
          <a:lstStyle/>
          <a:p>
            <a:pPr algn="l"/>
            <a:r>
              <a:rPr sz="1600" b="1" i="0">
                <a:solidFill>
                  <a:srgbClr val="8B1A1A"/>
                </a:solidFill>
                <a:latin typeface="Calibri"/>
              </a:rPr>
              <a:t>The Hundred (El Cien)</a:t>
            </a:r>
          </a:p>
        </p:txBody>
      </p:sp>
      <p:sp>
        <p:nvSpPr>
          <p:cNvPr id="11" name="Rectangle 10"/>
          <p:cNvSpPr/>
          <p:nvPr/>
        </p:nvSpPr>
        <p:spPr>
          <a:xfrm>
            <a:off x="1828800" y="4114800"/>
            <a:ext cx="548640" cy="45720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4114800"/>
            <a:ext cx="548640" cy="457200"/>
          </a:xfrm>
          <a:prstGeom prst="rect">
            <a:avLst/>
          </a:prstGeom>
          <a:noFill/>
        </p:spPr>
        <p:txBody>
          <a:bodyPr wrap="square" anchor="t"/>
          <a:lstStyle/>
          <a:p>
            <a:pPr algn="ctr"/>
            <a:r>
              <a:rPr sz="2200" b="1" i="0">
                <a:solidFill>
                  <a:srgbClr val="FFFFFF"/>
                </a:solidFill>
                <a:latin typeface="Calibri"/>
              </a:rPr>
              <a:t>2</a:t>
            </a:r>
          </a:p>
        </p:txBody>
      </p:sp>
      <p:sp>
        <p:nvSpPr>
          <p:cNvPr id="13" name="Rectangle 12"/>
          <p:cNvSpPr/>
          <p:nvPr/>
        </p:nvSpPr>
        <p:spPr>
          <a:xfrm>
            <a:off x="2468880" y="4114800"/>
            <a:ext cx="7315200" cy="457200"/>
          </a:xfrm>
          <a:prstGeom prst="rect">
            <a:avLst/>
          </a:prstGeom>
          <a:solidFill>
            <a:srgbClr val="F5C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51760" y="4114800"/>
            <a:ext cx="6858000" cy="457200"/>
          </a:xfrm>
          <a:prstGeom prst="rect">
            <a:avLst/>
          </a:prstGeom>
          <a:noFill/>
        </p:spPr>
        <p:txBody>
          <a:bodyPr wrap="square" anchor="t"/>
          <a:lstStyle/>
          <a:p>
            <a:pPr algn="l"/>
            <a:r>
              <a:rPr sz="1600" b="1" i="0">
                <a:solidFill>
                  <a:srgbClr val="8B1A1A"/>
                </a:solidFill>
                <a:latin typeface="Calibri"/>
              </a:rPr>
              <a:t>The Roll Up (Rodar hacia arriba)</a:t>
            </a:r>
          </a:p>
        </p:txBody>
      </p:sp>
      <p:sp>
        <p:nvSpPr>
          <p:cNvPr id="15" name="Rectangle 14"/>
          <p:cNvSpPr/>
          <p:nvPr/>
        </p:nvSpPr>
        <p:spPr>
          <a:xfrm>
            <a:off x="1828800" y="4754880"/>
            <a:ext cx="548640" cy="45720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28800" y="4754880"/>
            <a:ext cx="548640" cy="457200"/>
          </a:xfrm>
          <a:prstGeom prst="rect">
            <a:avLst/>
          </a:prstGeom>
          <a:noFill/>
        </p:spPr>
        <p:txBody>
          <a:bodyPr wrap="square" anchor="t"/>
          <a:lstStyle/>
          <a:p>
            <a:pPr algn="ctr"/>
            <a:r>
              <a:rPr sz="2200" b="1" i="0">
                <a:solidFill>
                  <a:srgbClr val="FFFFFF"/>
                </a:solidFill>
                <a:latin typeface="Calibri"/>
              </a:rPr>
              <a:t>3</a:t>
            </a:r>
          </a:p>
        </p:txBody>
      </p:sp>
      <p:sp>
        <p:nvSpPr>
          <p:cNvPr id="17" name="Rectangle 16"/>
          <p:cNvSpPr/>
          <p:nvPr/>
        </p:nvSpPr>
        <p:spPr>
          <a:xfrm>
            <a:off x="2468880" y="4754880"/>
            <a:ext cx="7315200" cy="457200"/>
          </a:xfrm>
          <a:prstGeom prst="rect">
            <a:avLst/>
          </a:prstGeom>
          <a:solidFill>
            <a:srgbClr val="F5C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51760" y="4754880"/>
            <a:ext cx="6858000" cy="457200"/>
          </a:xfrm>
          <a:prstGeom prst="rect">
            <a:avLst/>
          </a:prstGeom>
          <a:noFill/>
        </p:spPr>
        <p:txBody>
          <a:bodyPr wrap="square" anchor="t"/>
          <a:lstStyle/>
          <a:p>
            <a:pPr algn="l"/>
            <a:r>
              <a:rPr sz="1600" b="1" i="0">
                <a:solidFill>
                  <a:srgbClr val="8B1A1A"/>
                </a:solidFill>
                <a:latin typeface="Calibri"/>
              </a:rPr>
              <a:t>The Roll-Over with Leg Spread (Rodar hacia arriba con piernas extendidas)</a:t>
            </a:r>
          </a:p>
        </p:txBody>
      </p:sp>
      <p:sp>
        <p:nvSpPr>
          <p:cNvPr id="19" name="Rectangle 18"/>
          <p:cNvSpPr/>
          <p:nvPr/>
        </p:nvSpPr>
        <p:spPr>
          <a:xfrm>
            <a:off x="1828800" y="5394959"/>
            <a:ext cx="548640" cy="45720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28800" y="5394959"/>
            <a:ext cx="548640" cy="457200"/>
          </a:xfrm>
          <a:prstGeom prst="rect">
            <a:avLst/>
          </a:prstGeom>
          <a:noFill/>
        </p:spPr>
        <p:txBody>
          <a:bodyPr wrap="square" anchor="t"/>
          <a:lstStyle/>
          <a:p>
            <a:pPr algn="ctr"/>
            <a:r>
              <a:rPr sz="2200" b="1" i="0">
                <a:solidFill>
                  <a:srgbClr val="FFFFFF"/>
                </a:solidFill>
                <a:latin typeface="Calibri"/>
              </a:rPr>
              <a:t>4</a:t>
            </a:r>
          </a:p>
        </p:txBody>
      </p:sp>
      <p:sp>
        <p:nvSpPr>
          <p:cNvPr id="21" name="Rectangle 20"/>
          <p:cNvSpPr/>
          <p:nvPr/>
        </p:nvSpPr>
        <p:spPr>
          <a:xfrm>
            <a:off x="2468880" y="5394959"/>
            <a:ext cx="7315200" cy="457200"/>
          </a:xfrm>
          <a:prstGeom prst="rect">
            <a:avLst/>
          </a:prstGeom>
          <a:solidFill>
            <a:srgbClr val="F5C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51760" y="5394959"/>
            <a:ext cx="6858000" cy="457200"/>
          </a:xfrm>
          <a:prstGeom prst="rect">
            <a:avLst/>
          </a:prstGeom>
          <a:noFill/>
        </p:spPr>
        <p:txBody>
          <a:bodyPr wrap="square" anchor="t"/>
          <a:lstStyle/>
          <a:p>
            <a:pPr algn="l"/>
            <a:r>
              <a:rPr sz="1600" b="1" i="0">
                <a:solidFill>
                  <a:srgbClr val="8B1A1A"/>
                </a:solidFill>
                <a:latin typeface="Calibri"/>
              </a:rPr>
              <a:t>The One Leg Circle (Círculos con una pierna)</a:t>
            </a:r>
          </a:p>
        </p:txBody>
      </p:sp>
      <p:sp>
        <p:nvSpPr>
          <p:cNvPr id="23" name="Rectangle 22"/>
          <p:cNvSpPr/>
          <p:nvPr/>
        </p:nvSpPr>
        <p:spPr>
          <a:xfrm>
            <a:off x="1828800" y="6035040"/>
            <a:ext cx="548640" cy="45720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28800" y="6035040"/>
            <a:ext cx="548640" cy="457200"/>
          </a:xfrm>
          <a:prstGeom prst="rect">
            <a:avLst/>
          </a:prstGeom>
          <a:noFill/>
        </p:spPr>
        <p:txBody>
          <a:bodyPr wrap="square" anchor="t"/>
          <a:lstStyle/>
          <a:p>
            <a:pPr algn="ctr"/>
            <a:r>
              <a:rPr sz="2200" b="1" i="0">
                <a:solidFill>
                  <a:srgbClr val="FFFFFF"/>
                </a:solidFill>
                <a:latin typeface="Calibri"/>
              </a:rPr>
              <a:t>5</a:t>
            </a:r>
          </a:p>
        </p:txBody>
      </p:sp>
      <p:sp>
        <p:nvSpPr>
          <p:cNvPr id="25" name="Rectangle 24"/>
          <p:cNvSpPr/>
          <p:nvPr/>
        </p:nvSpPr>
        <p:spPr>
          <a:xfrm>
            <a:off x="2468880" y="6035040"/>
            <a:ext cx="7315200" cy="457200"/>
          </a:xfrm>
          <a:prstGeom prst="rect">
            <a:avLst/>
          </a:prstGeom>
          <a:solidFill>
            <a:srgbClr val="F5C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51760" y="6035040"/>
            <a:ext cx="6858000" cy="457200"/>
          </a:xfrm>
          <a:prstGeom prst="rect">
            <a:avLst/>
          </a:prstGeom>
          <a:noFill/>
        </p:spPr>
        <p:txBody>
          <a:bodyPr wrap="square" anchor="t"/>
          <a:lstStyle/>
          <a:p>
            <a:pPr algn="l"/>
            <a:r>
              <a:rPr sz="1600" b="1" i="0">
                <a:solidFill>
                  <a:srgbClr val="8B1A1A"/>
                </a:solidFill>
                <a:latin typeface="Calibri"/>
              </a:rPr>
              <a:t>Rolling Back (Rodar atrás), también conocido como Rolling like a ball (Rodar como una pelota)</a:t>
            </a:r>
          </a:p>
        </p:txBody>
      </p:sp>
    </p:spTree>
  </p:cSld>
  <p:clrMapOvr>
    <a:masterClrMapping/>
  </p:clrMapOvr>
  <p:transition advTm="10000" spd="med"/>
</p:sld>
</file>

<file path=ppt/slides/slide23.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457200" cy="576072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MAT BÁSICO</a:t>
            </a:r>
          </a:p>
        </p:txBody>
      </p:sp>
      <p:sp>
        <p:nvSpPr>
          <p:cNvPr id="5" name="TextBox 4"/>
          <p:cNvSpPr txBox="1"/>
          <p:nvPr/>
        </p:nvSpPr>
        <p:spPr>
          <a:xfrm>
            <a:off x="914400" y="1828800"/>
            <a:ext cx="4572000" cy="4572000"/>
          </a:xfrm>
          <a:prstGeom prst="rect">
            <a:avLst/>
          </a:prstGeom>
          <a:noFill/>
        </p:spPr>
        <p:txBody>
          <a:bodyPr wrap="square">
            <a:spAutoFit/>
          </a:bodyPr>
          <a:lstStyle/>
          <a:p>
            <a:pPr algn="l">
              <a:spcAft>
                <a:spcPts val="600"/>
              </a:spcAft>
            </a:pPr>
            <a:r>
              <a:rPr sz="2200" b="1">
                <a:solidFill>
                  <a:srgbClr val="000000"/>
                </a:solidFill>
                <a:latin typeface="Calibri"/>
              </a:rPr>
              <a:t>• The Hundred</a:t>
            </a:r>
          </a:p>
          <a:p>
            <a:pPr algn="l">
              <a:spcAft>
                <a:spcPts val="600"/>
              </a:spcAft>
            </a:pPr>
            <a:r>
              <a:rPr sz="2200" b="1">
                <a:solidFill>
                  <a:srgbClr val="000000"/>
                </a:solidFill>
                <a:latin typeface="Calibri"/>
              </a:rPr>
              <a:t>• Roll Up</a:t>
            </a:r>
          </a:p>
          <a:p>
            <a:pPr algn="l">
              <a:spcAft>
                <a:spcPts val="600"/>
              </a:spcAft>
            </a:pPr>
            <a:r>
              <a:rPr sz="2200" b="1">
                <a:solidFill>
                  <a:srgbClr val="000000"/>
                </a:solidFill>
                <a:latin typeface="Calibri"/>
              </a:rPr>
              <a:t>• Single Leg Circle</a:t>
            </a:r>
          </a:p>
          <a:p>
            <a:pPr algn="l">
              <a:spcAft>
                <a:spcPts val="600"/>
              </a:spcAft>
            </a:pPr>
            <a:r>
              <a:rPr sz="2200" b="1">
                <a:solidFill>
                  <a:srgbClr val="000000"/>
                </a:solidFill>
                <a:latin typeface="Calibri"/>
              </a:rPr>
              <a:t>• The Roll Down / Rolling Like a Ball</a:t>
            </a:r>
          </a:p>
          <a:p>
            <a:pPr algn="l">
              <a:spcAft>
                <a:spcPts val="600"/>
              </a:spcAft>
            </a:pPr>
            <a:r>
              <a:rPr sz="2200" b="1">
                <a:solidFill>
                  <a:srgbClr val="000000"/>
                </a:solidFill>
                <a:latin typeface="Calibri"/>
              </a:rPr>
              <a:t>• Single Leg Stretch</a:t>
            </a:r>
          </a:p>
          <a:p>
            <a:pPr algn="l">
              <a:spcAft>
                <a:spcPts val="600"/>
              </a:spcAft>
            </a:pPr>
            <a:r>
              <a:rPr sz="2200" b="1">
                <a:solidFill>
                  <a:srgbClr val="000000"/>
                </a:solidFill>
                <a:latin typeface="Calibri"/>
              </a:rPr>
              <a:t>• Double Leg Stretch</a:t>
            </a:r>
          </a:p>
          <a:p>
            <a:pPr algn="l">
              <a:spcAft>
                <a:spcPts val="600"/>
              </a:spcAft>
            </a:pPr>
            <a:r>
              <a:rPr sz="2200" b="1">
                <a:solidFill>
                  <a:srgbClr val="000000"/>
                </a:solidFill>
                <a:latin typeface="Calibri"/>
              </a:rPr>
              <a:t>• Spine Stretch Forward</a:t>
            </a:r>
          </a:p>
        </p:txBody>
      </p:sp>
    </p:spTree>
  </p:cSld>
  <p:clrMapOvr>
    <a:masterClrMapping/>
  </p:clrMapOvr>
  <p:transition advTm="10000" spd="med"/>
</p:sld>
</file>

<file path=ppt/slides/slide24.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600" b="1" i="0">
                <a:solidFill>
                  <a:srgbClr val="FFFFFF"/>
                </a:solidFill>
                <a:latin typeface="Calibri"/>
              </a:rPr>
              <a:t>EJERCICIO DE RESPIRACIÓN</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10058400" cy="4572000"/>
          </a:xfrm>
          <a:prstGeom prst="rect">
            <a:avLst/>
          </a:prstGeom>
          <a:noFill/>
        </p:spPr>
        <p:txBody>
          <a:bodyPr wrap="square">
            <a:spAutoFit/>
          </a:bodyPr>
          <a:lstStyle/>
          <a:p>
            <a:pPr algn="l">
              <a:spcAft>
                <a:spcPts val="400"/>
              </a:spcAft>
            </a:pPr>
            <a:r>
              <a:rPr sz="2200" b="1">
                <a:solidFill>
                  <a:srgbClr val="8B1A1A"/>
                </a:solidFill>
                <a:latin typeface="Calibri"/>
              </a:rPr>
              <a:t>Ejercicios que incorporan respiración como componente principal:</a:t>
            </a:r>
          </a:p>
          <a:p>
            <a:pPr algn="l">
              <a:spcAft>
                <a:spcPts val="400"/>
              </a:spcAft>
            </a:pPr>
            <a:r>
              <a:rPr sz="2000" b="0">
                <a:solidFill>
                  <a:srgbClr val="000000"/>
                </a:solidFill>
                <a:latin typeface="Calibri"/>
              </a:rPr>
              <a:t/>
            </a:r>
          </a:p>
          <a:p>
            <a:pPr algn="l">
              <a:spcAft>
                <a:spcPts val="400"/>
              </a:spcAft>
            </a:pPr>
            <a:r>
              <a:rPr sz="2400" b="1">
                <a:solidFill>
                  <a:srgbClr val="000000"/>
                </a:solidFill>
                <a:latin typeface="Calibri"/>
              </a:rPr>
              <a:t>• THE HUNDRED</a:t>
            </a:r>
          </a:p>
          <a:p>
            <a:pPr algn="l">
              <a:spcAft>
                <a:spcPts val="400"/>
              </a:spcAft>
            </a:pPr>
            <a:r>
              <a:rPr sz="2000" b="0">
                <a:solidFill>
                  <a:srgbClr val="000000"/>
                </a:solidFill>
                <a:latin typeface="Calibri"/>
              </a:rPr>
              <a:t>  Respiración: 5 tiempos de inhalación + 5 tiempos de exhalación</a:t>
            </a:r>
          </a:p>
          <a:p>
            <a:pPr algn="l">
              <a:spcAft>
                <a:spcPts val="400"/>
              </a:spcAft>
            </a:pPr>
            <a:r>
              <a:rPr sz="2000" b="0">
                <a:solidFill>
                  <a:srgbClr val="000000"/>
                </a:solidFill>
                <a:latin typeface="Calibri"/>
              </a:rPr>
              <a:t/>
            </a:r>
          </a:p>
          <a:p>
            <a:pPr algn="l">
              <a:spcAft>
                <a:spcPts val="400"/>
              </a:spcAft>
            </a:pPr>
            <a:r>
              <a:rPr sz="2400" b="1">
                <a:solidFill>
                  <a:srgbClr val="000000"/>
                </a:solidFill>
                <a:latin typeface="Calibri"/>
              </a:rPr>
              <a:t>• THE DOUBLE LEG STRETCH</a:t>
            </a:r>
          </a:p>
          <a:p>
            <a:pPr algn="l">
              <a:spcAft>
                <a:spcPts val="400"/>
              </a:spcAft>
            </a:pPr>
            <a:r>
              <a:rPr sz="2000" b="0">
                <a:solidFill>
                  <a:srgbClr val="000000"/>
                </a:solidFill>
                <a:latin typeface="Calibri"/>
              </a:rPr>
              <a:t>  Inhalar al extender, exhalar al recoger</a:t>
            </a:r>
          </a:p>
          <a:p>
            <a:pPr algn="l">
              <a:spcAft>
                <a:spcPts val="400"/>
              </a:spcAft>
            </a:pPr>
            <a:r>
              <a:rPr sz="2000" b="0">
                <a:solidFill>
                  <a:srgbClr val="000000"/>
                </a:solidFill>
                <a:latin typeface="Calibri"/>
              </a:rPr>
              <a:t/>
            </a:r>
          </a:p>
          <a:p>
            <a:pPr algn="l">
              <a:spcAft>
                <a:spcPts val="400"/>
              </a:spcAft>
            </a:pPr>
            <a:r>
              <a:rPr sz="2400" b="1">
                <a:solidFill>
                  <a:srgbClr val="000000"/>
                </a:solidFill>
                <a:latin typeface="Calibri"/>
              </a:rPr>
              <a:t>• THE SPINE STRETCH</a:t>
            </a:r>
          </a:p>
          <a:p>
            <a:pPr algn="l">
              <a:spcAft>
                <a:spcPts val="400"/>
              </a:spcAft>
            </a:pPr>
            <a:r>
              <a:rPr sz="2000" b="0">
                <a:solidFill>
                  <a:srgbClr val="000000"/>
                </a:solidFill>
                <a:latin typeface="Calibri"/>
              </a:rPr>
              <a:t>  Exhalar al flexionar la columna hacia adelante</a:t>
            </a:r>
          </a:p>
          <a:p>
            <a:pPr algn="l">
              <a:spcAft>
                <a:spcPts val="400"/>
              </a:spcAft>
            </a:pPr>
            <a:r>
              <a:rPr sz="2000" b="0">
                <a:solidFill>
                  <a:srgbClr val="000000"/>
                </a:solidFill>
                <a:latin typeface="Calibri"/>
              </a:rPr>
              <a:t/>
            </a:r>
          </a:p>
          <a:p>
            <a:pPr algn="l">
              <a:spcAft>
                <a:spcPts val="400"/>
              </a:spcAft>
            </a:pPr>
            <a:r>
              <a:rPr sz="2400" b="1">
                <a:solidFill>
                  <a:srgbClr val="000000"/>
                </a:solidFill>
                <a:latin typeface="Calibri"/>
              </a:rPr>
              <a:t>• THE SAW</a:t>
            </a:r>
          </a:p>
          <a:p>
            <a:pPr algn="l">
              <a:spcAft>
                <a:spcPts val="400"/>
              </a:spcAft>
            </a:pPr>
            <a:r>
              <a:rPr sz="2000" b="0">
                <a:solidFill>
                  <a:srgbClr val="000000"/>
                </a:solidFill>
                <a:latin typeface="Calibri"/>
              </a:rPr>
              <a:t>  Exhalar al rotar y flexionar, inhalar al volver al centro</a:t>
            </a:r>
          </a:p>
        </p:txBody>
      </p:sp>
    </p:spTree>
  </p:cSld>
  <p:clrMapOvr>
    <a:masterClrMapping/>
  </p:clrMapOvr>
  <p:transition advTm="10000" spd="med"/>
</p:sld>
</file>

<file path=ppt/slides/slide25.xml><?xml version="1.0" encoding="utf-8"?>
<p:sld xmlns:a="http://schemas.openxmlformats.org/drawingml/2006/main" xmlns:p="http://schemas.openxmlformats.org/presentationml/2006/main" xmlns:r="http://schemas.openxmlformats.org/officeDocument/2006/relationships" p:advTm="10000">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square" anchor="t"/>
          <a:lstStyle/>
          <a:p>
            <a:pPr algn="ctr"/>
            <a:r>
              <a:rPr sz="3200" b="1" i="0">
                <a:solidFill>
                  <a:srgbClr val="FFFFFF"/>
                </a:solidFill>
                <a:latin typeface="Calibri"/>
              </a:rPr>
              <a:t>PRINCIPIOS DE BIOMECÁNICA DE PILATES</a:t>
            </a:r>
          </a:p>
        </p:txBody>
      </p:sp>
      <p:sp>
        <p:nvSpPr>
          <p:cNvPr id="4" name="Rectangle 3"/>
          <p:cNvSpPr/>
          <p:nvPr/>
        </p:nvSpPr>
        <p:spPr>
          <a:xfrm>
            <a:off x="731520" y="1645920"/>
            <a:ext cx="10515600" cy="54864"/>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2011680"/>
            <a:ext cx="3657600" cy="50292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3657600" cy="502920"/>
          </a:xfrm>
          <a:prstGeom prst="rect">
            <a:avLst/>
          </a:prstGeom>
          <a:noFill/>
        </p:spPr>
        <p:txBody>
          <a:bodyPr wrap="square" anchor="t"/>
          <a:lstStyle/>
          <a:p>
            <a:pPr algn="ctr"/>
            <a:r>
              <a:rPr sz="1800" b="1" i="0">
                <a:solidFill>
                  <a:srgbClr val="FFFFFF"/>
                </a:solidFill>
                <a:latin typeface="Calibri"/>
              </a:rPr>
              <a:t>Movimiento Escapular</a:t>
            </a:r>
          </a:p>
        </p:txBody>
      </p:sp>
      <p:sp>
        <p:nvSpPr>
          <p:cNvPr id="7" name="TextBox 6"/>
          <p:cNvSpPr txBox="1"/>
          <p:nvPr/>
        </p:nvSpPr>
        <p:spPr>
          <a:xfrm>
            <a:off x="5029200" y="2011680"/>
            <a:ext cx="6400800" cy="640080"/>
          </a:xfrm>
          <a:prstGeom prst="rect">
            <a:avLst/>
          </a:prstGeom>
          <a:noFill/>
        </p:spPr>
        <p:txBody>
          <a:bodyPr wrap="square" anchor="t"/>
          <a:lstStyle/>
          <a:p>
            <a:pPr algn="l"/>
            <a:r>
              <a:rPr sz="1800" b="0" i="0">
                <a:solidFill>
                  <a:srgbClr val="000000"/>
                </a:solidFill>
                <a:latin typeface="Calibri"/>
              </a:rPr>
              <a:t>Control y estabilización de las escápulas durante el movimiento</a:t>
            </a:r>
          </a:p>
        </p:txBody>
      </p:sp>
      <p:sp>
        <p:nvSpPr>
          <p:cNvPr id="8" name="Rectangle 7"/>
          <p:cNvSpPr/>
          <p:nvPr/>
        </p:nvSpPr>
        <p:spPr>
          <a:xfrm>
            <a:off x="914400" y="2926080"/>
            <a:ext cx="3657600" cy="50292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26080"/>
            <a:ext cx="3657600" cy="502920"/>
          </a:xfrm>
          <a:prstGeom prst="rect">
            <a:avLst/>
          </a:prstGeom>
          <a:noFill/>
        </p:spPr>
        <p:txBody>
          <a:bodyPr wrap="square" anchor="t"/>
          <a:lstStyle/>
          <a:p>
            <a:pPr algn="ctr"/>
            <a:r>
              <a:rPr sz="1800" b="1" i="0">
                <a:solidFill>
                  <a:srgbClr val="FFFFFF"/>
                </a:solidFill>
                <a:latin typeface="Calibri"/>
              </a:rPr>
              <a:t>Colocación de Cabeza y Columna</a:t>
            </a:r>
          </a:p>
        </p:txBody>
      </p:sp>
      <p:sp>
        <p:nvSpPr>
          <p:cNvPr id="10" name="TextBox 9"/>
          <p:cNvSpPr txBox="1"/>
          <p:nvPr/>
        </p:nvSpPr>
        <p:spPr>
          <a:xfrm>
            <a:off x="5029200" y="2926080"/>
            <a:ext cx="6400800" cy="640080"/>
          </a:xfrm>
          <a:prstGeom prst="rect">
            <a:avLst/>
          </a:prstGeom>
          <a:noFill/>
        </p:spPr>
        <p:txBody>
          <a:bodyPr wrap="square" anchor="t"/>
          <a:lstStyle/>
          <a:p>
            <a:pPr algn="l"/>
            <a:r>
              <a:rPr sz="1800" b="0" i="0">
                <a:solidFill>
                  <a:srgbClr val="000000"/>
                </a:solidFill>
                <a:latin typeface="Calibri"/>
              </a:rPr>
              <a:t>Alineación neutra de la columna cervical y dorsal</a:t>
            </a:r>
          </a:p>
        </p:txBody>
      </p:sp>
      <p:sp>
        <p:nvSpPr>
          <p:cNvPr id="11" name="Rectangle 10"/>
          <p:cNvSpPr/>
          <p:nvPr/>
        </p:nvSpPr>
        <p:spPr>
          <a:xfrm>
            <a:off x="914400" y="3840480"/>
            <a:ext cx="3657600" cy="50292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840480"/>
            <a:ext cx="3657600" cy="502920"/>
          </a:xfrm>
          <a:prstGeom prst="rect">
            <a:avLst/>
          </a:prstGeom>
          <a:noFill/>
        </p:spPr>
        <p:txBody>
          <a:bodyPr wrap="square" anchor="t"/>
          <a:lstStyle/>
          <a:p>
            <a:pPr algn="ctr"/>
            <a:r>
              <a:rPr sz="1800" b="1" i="0">
                <a:solidFill>
                  <a:srgbClr val="FFFFFF"/>
                </a:solidFill>
                <a:latin typeface="Calibri"/>
              </a:rPr>
              <a:t>Colocación de la Caja Torácica</a:t>
            </a:r>
          </a:p>
        </p:txBody>
      </p:sp>
      <p:sp>
        <p:nvSpPr>
          <p:cNvPr id="13" name="TextBox 12"/>
          <p:cNvSpPr txBox="1"/>
          <p:nvPr/>
        </p:nvSpPr>
        <p:spPr>
          <a:xfrm>
            <a:off x="5029200" y="3840480"/>
            <a:ext cx="6400800" cy="640080"/>
          </a:xfrm>
          <a:prstGeom prst="rect">
            <a:avLst/>
          </a:prstGeom>
          <a:noFill/>
        </p:spPr>
        <p:txBody>
          <a:bodyPr wrap="square" anchor="t"/>
          <a:lstStyle/>
          <a:p>
            <a:pPr algn="l"/>
            <a:r>
              <a:rPr sz="1800" b="0" i="0">
                <a:solidFill>
                  <a:srgbClr val="000000"/>
                </a:solidFill>
                <a:latin typeface="Calibri"/>
              </a:rPr>
              <a:t>Mantener las costillas conectadas, evitar la apertura excesiva</a:t>
            </a:r>
          </a:p>
        </p:txBody>
      </p:sp>
      <p:sp>
        <p:nvSpPr>
          <p:cNvPr id="14" name="Rectangle 13"/>
          <p:cNvSpPr/>
          <p:nvPr/>
        </p:nvSpPr>
        <p:spPr>
          <a:xfrm>
            <a:off x="914400" y="4754880"/>
            <a:ext cx="3657600" cy="50292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754880"/>
            <a:ext cx="3657600" cy="502920"/>
          </a:xfrm>
          <a:prstGeom prst="rect">
            <a:avLst/>
          </a:prstGeom>
          <a:noFill/>
        </p:spPr>
        <p:txBody>
          <a:bodyPr wrap="square" anchor="t"/>
          <a:lstStyle/>
          <a:p>
            <a:pPr algn="ctr"/>
            <a:r>
              <a:rPr sz="1800" b="1" i="0">
                <a:solidFill>
                  <a:srgbClr val="FFFFFF"/>
                </a:solidFill>
                <a:latin typeface="Calibri"/>
              </a:rPr>
              <a:t>Colocación Pélvica</a:t>
            </a:r>
          </a:p>
        </p:txBody>
      </p:sp>
      <p:sp>
        <p:nvSpPr>
          <p:cNvPr id="16" name="TextBox 15"/>
          <p:cNvSpPr txBox="1"/>
          <p:nvPr/>
        </p:nvSpPr>
        <p:spPr>
          <a:xfrm>
            <a:off x="5029200" y="4754880"/>
            <a:ext cx="6400800" cy="640080"/>
          </a:xfrm>
          <a:prstGeom prst="rect">
            <a:avLst/>
          </a:prstGeom>
          <a:noFill/>
        </p:spPr>
        <p:txBody>
          <a:bodyPr wrap="square" anchor="t"/>
          <a:lstStyle/>
          <a:p>
            <a:pPr algn="l"/>
            <a:r>
              <a:rPr sz="1800" b="0" i="0">
                <a:solidFill>
                  <a:srgbClr val="000000"/>
                </a:solidFill>
                <a:latin typeface="Calibri"/>
              </a:rPr>
              <a:t>Posición neutra de la pelvis: ni anteroversión ni retroversión excesiva</a:t>
            </a:r>
          </a:p>
        </p:txBody>
      </p:sp>
      <p:sp>
        <p:nvSpPr>
          <p:cNvPr id="17" name="Rectangle 16"/>
          <p:cNvSpPr/>
          <p:nvPr/>
        </p:nvSpPr>
        <p:spPr>
          <a:xfrm>
            <a:off x="914400" y="5669280"/>
            <a:ext cx="3657600" cy="50292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669280"/>
            <a:ext cx="3657600" cy="502920"/>
          </a:xfrm>
          <a:prstGeom prst="rect">
            <a:avLst/>
          </a:prstGeom>
          <a:noFill/>
        </p:spPr>
        <p:txBody>
          <a:bodyPr wrap="square" anchor="t"/>
          <a:lstStyle/>
          <a:p>
            <a:pPr algn="ctr"/>
            <a:r>
              <a:rPr sz="1800" b="1" i="0">
                <a:solidFill>
                  <a:srgbClr val="FFFFFF"/>
                </a:solidFill>
                <a:latin typeface="Calibri"/>
              </a:rPr>
              <a:t>Respiración</a:t>
            </a:r>
          </a:p>
        </p:txBody>
      </p:sp>
      <p:sp>
        <p:nvSpPr>
          <p:cNvPr id="19" name="TextBox 18"/>
          <p:cNvSpPr txBox="1"/>
          <p:nvPr/>
        </p:nvSpPr>
        <p:spPr>
          <a:xfrm>
            <a:off x="5029200" y="5669280"/>
            <a:ext cx="6400800" cy="640080"/>
          </a:xfrm>
          <a:prstGeom prst="rect">
            <a:avLst/>
          </a:prstGeom>
          <a:noFill/>
        </p:spPr>
        <p:txBody>
          <a:bodyPr wrap="square" anchor="t"/>
          <a:lstStyle/>
          <a:p>
            <a:pPr algn="l"/>
            <a:r>
              <a:rPr sz="1800" b="0" i="0">
                <a:solidFill>
                  <a:srgbClr val="000000"/>
                </a:solidFill>
                <a:latin typeface="Calibri"/>
              </a:rPr>
              <a:t>Respiración lateral o costal: expandir las costillas lateralmente al inhalar</a:t>
            </a:r>
          </a:p>
        </p:txBody>
      </p:sp>
    </p:spTree>
  </p:cSld>
  <p:clrMapOvr>
    <a:masterClrMapping/>
  </p:clrMapOvr>
  <p:transition advTm="10000" spd="med"/>
</p:sld>
</file>

<file path=ppt/slides/slide26.xml><?xml version="1.0" encoding="utf-8"?>
<p:sld xmlns:a="http://schemas.openxmlformats.org/drawingml/2006/main" xmlns:p="http://schemas.openxmlformats.org/presentationml/2006/main" xmlns:r="http://schemas.openxmlformats.org/officeDocument/2006/relationships" p:advTm="10000">
  <p:cSld>
    <p:bg>
      <p:bgPr>
        <a:solidFill>
          <a:srgbClr val="FDF0E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8B1A1A">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0" y="914400"/>
            <a:ext cx="5486400" cy="640080"/>
          </a:xfrm>
          <a:prstGeom prst="rect">
            <a:avLst/>
          </a:prstGeom>
          <a:solidFill>
            <a:srgbClr val="E8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0" y="960120"/>
            <a:ext cx="5486400" cy="594360"/>
          </a:xfrm>
          <a:prstGeom prst="rect">
            <a:avLst/>
          </a:prstGeom>
          <a:noFill/>
        </p:spPr>
        <p:txBody>
          <a:bodyPr wrap="square" anchor="t"/>
          <a:lstStyle/>
          <a:p>
            <a:pPr algn="ctr"/>
            <a:r>
              <a:rPr sz="2800" b="1" i="0">
                <a:solidFill>
                  <a:srgbClr val="FFFFFF"/>
                </a:solidFill>
                <a:latin typeface="Calibri"/>
              </a:rPr>
              <a:t>POSICIÓN DE INICIO</a:t>
            </a:r>
          </a:p>
        </p:txBody>
      </p:sp>
      <p:sp>
        <p:nvSpPr>
          <p:cNvPr id="5" name="TextBox 4"/>
          <p:cNvSpPr txBox="1"/>
          <p:nvPr/>
        </p:nvSpPr>
        <p:spPr>
          <a:xfrm>
            <a:off x="914400" y="2286000"/>
            <a:ext cx="4572000" cy="1371600"/>
          </a:xfrm>
          <a:prstGeom prst="rect">
            <a:avLst/>
          </a:prstGeom>
          <a:noFill/>
        </p:spPr>
        <p:txBody>
          <a:bodyPr wrap="square" anchor="t"/>
          <a:lstStyle/>
          <a:p>
            <a:pPr algn="ctr"/>
            <a:r>
              <a:rPr sz="2800" b="1" i="0">
                <a:solidFill>
                  <a:srgbClr val="8B1A1A"/>
                </a:solidFill>
                <a:latin typeface="Calibri"/>
              </a:rPr>
              <a:t>SI YA SABES CÓMO FUNCIONA
NUESTRO CUERPO</a:t>
            </a:r>
          </a:p>
        </p:txBody>
      </p:sp>
      <p:sp>
        <p:nvSpPr>
          <p:cNvPr id="6" name="TextBox 5"/>
          <p:cNvSpPr txBox="1"/>
          <p:nvPr/>
        </p:nvSpPr>
        <p:spPr>
          <a:xfrm>
            <a:off x="914400" y="3840480"/>
            <a:ext cx="4572000" cy="1371600"/>
          </a:xfrm>
          <a:prstGeom prst="rect">
            <a:avLst/>
          </a:prstGeom>
          <a:noFill/>
        </p:spPr>
        <p:txBody>
          <a:bodyPr wrap="square" anchor="t"/>
          <a:lstStyle/>
          <a:p>
            <a:pPr algn="ctr"/>
            <a:r>
              <a:rPr sz="4000" b="1" i="1">
                <a:solidFill>
                  <a:srgbClr val="8B1A1A"/>
                </a:solidFill>
                <a:latin typeface="Calibri"/>
              </a:rPr>
              <a:t>ENTONCES
COMENCEMOS</a:t>
            </a:r>
          </a:p>
        </p:txBody>
      </p:sp>
      <p:sp>
        <p:nvSpPr>
          <p:cNvPr id="7" name="TextBox 6"/>
          <p:cNvSpPr txBox="1"/>
          <p:nvPr/>
        </p:nvSpPr>
        <p:spPr>
          <a:xfrm>
            <a:off x="1828800" y="5669280"/>
            <a:ext cx="8229600" cy="731520"/>
          </a:xfrm>
          <a:prstGeom prst="rect">
            <a:avLst/>
          </a:prstGeom>
          <a:noFill/>
        </p:spPr>
        <p:txBody>
          <a:bodyPr wrap="square" anchor="t"/>
          <a:lstStyle/>
          <a:p>
            <a:pPr algn="ctr"/>
            <a:r>
              <a:rPr sz="1800" b="1" i="0">
                <a:solidFill>
                  <a:srgbClr val="E87A2E"/>
                </a:solidFill>
                <a:latin typeface="Calibri"/>
              </a:rPr>
              <a:t>AntoBioMove | Lic. Antonella Gutiérrez | @anto_biomove</a:t>
            </a:r>
          </a:p>
        </p:txBody>
      </p:sp>
    </p:spTree>
  </p:cSld>
  <p:clrMapOvr>
    <a:masterClrMapping/>
  </p:clrMapOvr>
  <p:transition advTm="10000"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